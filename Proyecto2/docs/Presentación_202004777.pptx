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Bold" charset="1" panose="02000503000000020004"/>
      <p:regular r:id="rId15"/>
    </p:embeddedFont>
    <p:embeddedFont>
      <p:font typeface="Inter" charset="1" panose="02000503000000020004"/>
      <p:regular r:id="rId16"/>
    </p:embeddedFont>
    <p:embeddedFont>
      <p:font typeface="Inter Semi-Bold" charset="1" panose="02000503000000020004"/>
      <p:regular r:id="rId17"/>
    </p:embeddedFont>
    <p:embeddedFont>
      <p:font typeface="Inter Medium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34.png" Type="http://schemas.openxmlformats.org/officeDocument/2006/relationships/image"/><Relationship Id="rId18" Target="../media/image35.png" Type="http://schemas.openxmlformats.org/officeDocument/2006/relationships/image"/><Relationship Id="rId19" Target="../media/image36.png" Type="http://schemas.openxmlformats.org/officeDocument/2006/relationships/image"/><Relationship Id="rId2" Target="../media/image19.png" Type="http://schemas.openxmlformats.org/officeDocument/2006/relationships/image"/><Relationship Id="rId20" Target="../media/image37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18" Target="../media/image54.png" Type="http://schemas.openxmlformats.org/officeDocument/2006/relationships/image"/><Relationship Id="rId19" Target="../media/image55.png" Type="http://schemas.openxmlformats.org/officeDocument/2006/relationships/image"/><Relationship Id="rId2" Target="../media/image38.png" Type="http://schemas.openxmlformats.org/officeDocument/2006/relationships/image"/><Relationship Id="rId20" Target="../media/image56.png" Type="http://schemas.openxmlformats.org/officeDocument/2006/relationships/image"/><Relationship Id="rId21" Target="../media/image57.png" Type="http://schemas.openxmlformats.org/officeDocument/2006/relationships/image"/><Relationship Id="rId22" Target="../media/image58.png" Type="http://schemas.openxmlformats.org/officeDocument/2006/relationships/image"/><Relationship Id="rId23" Target="../media/image59.png" Type="http://schemas.openxmlformats.org/officeDocument/2006/relationships/image"/><Relationship Id="rId24" Target="../media/image60.png" Type="http://schemas.openxmlformats.org/officeDocument/2006/relationships/image"/><Relationship Id="rId25" Target="../media/image61.png" Type="http://schemas.openxmlformats.org/officeDocument/2006/relationships/image"/><Relationship Id="rId26" Target="../media/image62.png" Type="http://schemas.openxmlformats.org/officeDocument/2006/relationships/image"/><Relationship Id="rId27" Target="../media/image63.png" Type="http://schemas.openxmlformats.org/officeDocument/2006/relationships/image"/><Relationship Id="rId28" Target="../media/image64.png" Type="http://schemas.openxmlformats.org/officeDocument/2006/relationships/image"/><Relationship Id="rId29" Target="../media/image65.png" Type="http://schemas.openxmlformats.org/officeDocument/2006/relationships/image"/><Relationship Id="rId3" Target="../media/image39.png" Type="http://schemas.openxmlformats.org/officeDocument/2006/relationships/image"/><Relationship Id="rId30" Target="../media/image66.png" Type="http://schemas.openxmlformats.org/officeDocument/2006/relationships/image"/><Relationship Id="rId31" Target="../media/image67.png" Type="http://schemas.openxmlformats.org/officeDocument/2006/relationships/image"/><Relationship Id="rId32" Target="../media/image68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88.png" Type="http://schemas.openxmlformats.org/officeDocument/2006/relationships/image"/><Relationship Id="rId14" Target="../media/image89.png" Type="http://schemas.openxmlformats.org/officeDocument/2006/relationships/image"/><Relationship Id="rId15" Target="../media/image90.png" Type="http://schemas.openxmlformats.org/officeDocument/2006/relationships/image"/><Relationship Id="rId16" Target="../media/image91.png" Type="http://schemas.openxmlformats.org/officeDocument/2006/relationships/image"/><Relationship Id="rId17" Target="../media/image92.png" Type="http://schemas.openxmlformats.org/officeDocument/2006/relationships/image"/><Relationship Id="rId18" Target="../media/image93.png" Type="http://schemas.openxmlformats.org/officeDocument/2006/relationships/image"/><Relationship Id="rId19" Target="../media/image94.png" Type="http://schemas.openxmlformats.org/officeDocument/2006/relationships/image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9.png" Type="http://schemas.openxmlformats.org/officeDocument/2006/relationships/image"/><Relationship Id="rId7" Target="../media/image100.png" Type="http://schemas.openxmlformats.org/officeDocument/2006/relationships/image"/><Relationship Id="rId8" Target="../media/image10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10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59636" y="2131738"/>
            <a:ext cx="8728364" cy="7236976"/>
          </a:xfrm>
          <a:custGeom>
            <a:avLst/>
            <a:gdLst/>
            <a:ahLst/>
            <a:cxnLst/>
            <a:rect r="r" b="b" t="t" l="l"/>
            <a:pathLst>
              <a:path h="7236976" w="8728364">
                <a:moveTo>
                  <a:pt x="0" y="0"/>
                </a:moveTo>
                <a:lnTo>
                  <a:pt x="8728364" y="0"/>
                </a:lnTo>
                <a:lnTo>
                  <a:pt x="8728364" y="7236975"/>
                </a:lnTo>
                <a:lnTo>
                  <a:pt x="0" y="7236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280" t="-2870" r="0" b="-1268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8756" y="1047277"/>
            <a:ext cx="7418111" cy="180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1"/>
              </a:lnSpc>
            </a:pPr>
            <a:r>
              <a:rPr lang="en-US" sz="6755" spc="-135" b="true">
                <a:solidFill>
                  <a:srgbClr val="FFFFF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Proyecto Conectividad XXI: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6082" y="3140086"/>
            <a:ext cx="7685550" cy="154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6"/>
              </a:lnSpc>
            </a:pPr>
            <a:r>
              <a:rPr lang="en-US" sz="5535" spc="-110" b="true">
                <a:solidFill>
                  <a:srgbClr val="2EB2F2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Integración de Operadores Nacionales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116170"/>
            <a:ext cx="1312536" cy="109320"/>
          </a:xfrm>
          <a:custGeom>
            <a:avLst/>
            <a:gdLst/>
            <a:ahLst/>
            <a:cxnLst/>
            <a:rect r="r" b="b" t="t" l="l"/>
            <a:pathLst>
              <a:path h="109320" w="1312536">
                <a:moveTo>
                  <a:pt x="0" y="0"/>
                </a:moveTo>
                <a:lnTo>
                  <a:pt x="1312536" y="0"/>
                </a:lnTo>
                <a:lnTo>
                  <a:pt x="1312536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666" t="-180000" r="-833" b="-1300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7063" y="5600122"/>
            <a:ext cx="6587408" cy="105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8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Modernización de la Infraestructura de Telecomunicaciones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881" y="7537510"/>
            <a:ext cx="5105640" cy="42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544" b="true">
                <a:solidFill>
                  <a:srgbClr val="2EB2F2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David Andrés Jimenez Paniagua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5181" y="8080388"/>
            <a:ext cx="1775651" cy="42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202004777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598" y="8637639"/>
            <a:ext cx="4133921" cy="42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Redes de Computadoras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051837" cy="10287000"/>
          </a:xfrm>
          <a:custGeom>
            <a:avLst/>
            <a:gdLst/>
            <a:ahLst/>
            <a:cxnLst/>
            <a:rect r="r" b="b" t="t" l="l"/>
            <a:pathLst>
              <a:path h="10287000" w="10051837">
                <a:moveTo>
                  <a:pt x="0" y="0"/>
                </a:moveTo>
                <a:lnTo>
                  <a:pt x="10051837" y="0"/>
                </a:lnTo>
                <a:lnTo>
                  <a:pt x="1005183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84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9500" y="816018"/>
            <a:ext cx="7343709" cy="262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5"/>
              </a:lnSpc>
            </a:pPr>
            <a:r>
              <a:rPr lang="en-US" sz="5853" spc="-117" b="true">
                <a:solidFill>
                  <a:srgbClr val="FFFFF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Resumen Ejecutivo y Visión General</a:t>
            </a:r>
          </a:p>
          <a:p>
            <a:pPr algn="l">
              <a:lnSpc>
                <a:spcPts val="7025"/>
              </a:lnSpc>
            </a:pPr>
            <a:r>
              <a:rPr lang="en-US" sz="5853" spc="-117" b="true">
                <a:solidFill>
                  <a:srgbClr val="FFFFF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del Proyecto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34392" y="3760604"/>
            <a:ext cx="1082842" cy="98388"/>
          </a:xfrm>
          <a:custGeom>
            <a:avLst/>
            <a:gdLst/>
            <a:ahLst/>
            <a:cxnLst/>
            <a:rect r="r" b="b" t="t" l="l"/>
            <a:pathLst>
              <a:path h="98388" w="1082842">
                <a:moveTo>
                  <a:pt x="0" y="0"/>
                </a:moveTo>
                <a:lnTo>
                  <a:pt x="1082842" y="0"/>
                </a:lnTo>
                <a:lnTo>
                  <a:pt x="1082842" y="98387"/>
                </a:lnTo>
                <a:lnTo>
                  <a:pt x="0" y="98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91" t="-122222" r="-303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0337" y="4385437"/>
            <a:ext cx="6260049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51" b="true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Una red nacional integrada para impulsar </a:t>
            </a:r>
            <a:r>
              <a:rPr lang="en-US" sz="2558" spc="-51" b="true">
                <a:solidFill>
                  <a:srgbClr val="37B0EB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conectividad, resiliencia y crecimiento.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2938" y="5630368"/>
            <a:ext cx="7500938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 b="true">
                <a:solidFill>
                  <a:srgbClr val="37B0EB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Integra</a:t>
            </a: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 tres operadores nacionales sobre</a:t>
            </a:r>
          </a:p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un backbone BGP unificado.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938" y="6639444"/>
            <a:ext cx="7500938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 b="true">
                <a:solidFill>
                  <a:srgbClr val="37B0EB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Escalabilidad</a:t>
            </a: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, alta disponibilidad y</a:t>
            </a:r>
          </a:p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redundancia para operaciones críticas.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38" y="7663581"/>
            <a:ext cx="7500938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 b="true">
                <a:solidFill>
                  <a:srgbClr val="37B0EB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Seguridad</a:t>
            </a: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 estricta con segmentación y</a:t>
            </a:r>
          </a:p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control entre departamentos.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938" y="8657597"/>
            <a:ext cx="7500938" cy="77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 b="true">
                <a:solidFill>
                  <a:srgbClr val="37B0EB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Arquitectura</a:t>
            </a: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 de núcleo en triángulo con</a:t>
            </a:r>
          </a:p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enlaces dedicados de fibra óptica (192.168.77.0/30).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1137" y="6584320"/>
            <a:ext cx="103923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b="true" sz="3392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ISP 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3270" y="1207600"/>
            <a:ext cx="1067823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b="true" sz="3392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ISP 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33112" y="6584320"/>
            <a:ext cx="1073843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b="true" sz="3392" spc="-67">
                <a:solidFill>
                  <a:srgbClr val="FFFFFF">
                    <a:alpha val="94902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ISP C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59636" y="1672594"/>
            <a:ext cx="6125167" cy="4995918"/>
          </a:xfrm>
          <a:custGeom>
            <a:avLst/>
            <a:gdLst/>
            <a:ahLst/>
            <a:cxnLst/>
            <a:rect r="r" b="b" t="t" l="l"/>
            <a:pathLst>
              <a:path h="4995918" w="6125167">
                <a:moveTo>
                  <a:pt x="0" y="0"/>
                </a:moveTo>
                <a:lnTo>
                  <a:pt x="6125168" y="0"/>
                </a:lnTo>
                <a:lnTo>
                  <a:pt x="6125168" y="4995918"/>
                </a:lnTo>
                <a:lnTo>
                  <a:pt x="0" y="4995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785" t="-3501" r="-3571" b="-3938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3590" y="869100"/>
            <a:ext cx="9329300" cy="181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6493" spc="-63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Arquitectura del Núcleo y Enrutamiento BGP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5646" y="3050024"/>
            <a:ext cx="984402" cy="120252"/>
          </a:xfrm>
          <a:custGeom>
            <a:avLst/>
            <a:gdLst/>
            <a:ahLst/>
            <a:cxnLst/>
            <a:rect r="r" b="b" t="t" l="l"/>
            <a:pathLst>
              <a:path h="120252" w="984402">
                <a:moveTo>
                  <a:pt x="0" y="0"/>
                </a:moveTo>
                <a:lnTo>
                  <a:pt x="984402" y="0"/>
                </a:lnTo>
                <a:lnTo>
                  <a:pt x="984402" y="120252"/>
                </a:lnTo>
                <a:lnTo>
                  <a:pt x="0" y="12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222" t="-45454" r="0" b="-454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0019" y="3574760"/>
            <a:ext cx="3434469" cy="2142670"/>
          </a:xfrm>
          <a:custGeom>
            <a:avLst/>
            <a:gdLst/>
            <a:ahLst/>
            <a:cxnLst/>
            <a:rect r="r" b="b" t="t" l="l"/>
            <a:pathLst>
              <a:path h="2142670" w="3434469">
                <a:moveTo>
                  <a:pt x="0" y="0"/>
                </a:moveTo>
                <a:lnTo>
                  <a:pt x="3434469" y="0"/>
                </a:lnTo>
                <a:lnTo>
                  <a:pt x="3434469" y="2142669"/>
                </a:lnTo>
                <a:lnTo>
                  <a:pt x="0" y="2142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61" t="-7142" r="-6687" b="-1326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8483" y="3837587"/>
            <a:ext cx="1932719" cy="42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b="true" sz="2643" spc="-25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FibraNet GT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911" y="4377070"/>
            <a:ext cx="1637863" cy="46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</a:pPr>
            <a:r>
              <a:rPr lang="en-US" b="true" sz="2859" spc="-27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AS 65017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6028" y="4994845"/>
            <a:ext cx="2197630" cy="39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sz="2471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172.16.17.0/24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373502" y="5586245"/>
            <a:ext cx="21876" cy="459143"/>
          </a:xfrm>
          <a:custGeom>
            <a:avLst/>
            <a:gdLst/>
            <a:ahLst/>
            <a:cxnLst/>
            <a:rect r="r" b="b" t="t" l="l"/>
            <a:pathLst>
              <a:path h="459143" w="21876">
                <a:moveTo>
                  <a:pt x="0" y="0"/>
                </a:moveTo>
                <a:lnTo>
                  <a:pt x="21876" y="0"/>
                </a:lnTo>
                <a:lnTo>
                  <a:pt x="21876" y="459144"/>
                </a:lnTo>
                <a:lnTo>
                  <a:pt x="0" y="4591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9999" t="-4761" r="0" b="-3809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73502" y="5990729"/>
            <a:ext cx="7623646" cy="54660"/>
          </a:xfrm>
          <a:custGeom>
            <a:avLst/>
            <a:gdLst/>
            <a:ahLst/>
            <a:cxnLst/>
            <a:rect r="r" b="b" t="t" l="l"/>
            <a:pathLst>
              <a:path h="54660" w="7623646">
                <a:moveTo>
                  <a:pt x="0" y="0"/>
                </a:moveTo>
                <a:lnTo>
                  <a:pt x="7623646" y="0"/>
                </a:lnTo>
                <a:lnTo>
                  <a:pt x="7623646" y="54660"/>
                </a:lnTo>
                <a:lnTo>
                  <a:pt x="0" y="5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2" t="0" r="-286" b="-3200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18871" y="3520100"/>
            <a:ext cx="3521971" cy="2241057"/>
          </a:xfrm>
          <a:custGeom>
            <a:avLst/>
            <a:gdLst/>
            <a:ahLst/>
            <a:cxnLst/>
            <a:rect r="r" b="b" t="t" l="l"/>
            <a:pathLst>
              <a:path h="2241057" w="3521971">
                <a:moveTo>
                  <a:pt x="0" y="0"/>
                </a:moveTo>
                <a:lnTo>
                  <a:pt x="3521971" y="0"/>
                </a:lnTo>
                <a:lnTo>
                  <a:pt x="3521971" y="2241057"/>
                </a:lnTo>
                <a:lnTo>
                  <a:pt x="0" y="2241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74" t="-4390" r="-3416" b="-1073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79403" y="3837587"/>
            <a:ext cx="1878974" cy="42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b="true" sz="2643" spc="-25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AndinaCom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99958" y="4394780"/>
            <a:ext cx="1637863" cy="44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5"/>
              </a:lnSpc>
            </a:pPr>
            <a:r>
              <a:rPr lang="en-US" b="true" sz="2742" spc="-26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AS 65027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20075" y="4994845"/>
            <a:ext cx="2197630" cy="39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sz="2471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172.16.27.0/24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125167" y="5608109"/>
            <a:ext cx="87502" cy="808967"/>
          </a:xfrm>
          <a:custGeom>
            <a:avLst/>
            <a:gdLst/>
            <a:ahLst/>
            <a:cxnLst/>
            <a:rect r="r" b="b" t="t" l="l"/>
            <a:pathLst>
              <a:path h="808967" w="87502">
                <a:moveTo>
                  <a:pt x="0" y="0"/>
                </a:moveTo>
                <a:lnTo>
                  <a:pt x="87503" y="0"/>
                </a:lnTo>
                <a:lnTo>
                  <a:pt x="87503" y="808968"/>
                </a:lnTo>
                <a:lnTo>
                  <a:pt x="0" y="808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7500" t="-5405" r="-124999" b="-270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203349" y="3563828"/>
            <a:ext cx="3489158" cy="2175465"/>
          </a:xfrm>
          <a:custGeom>
            <a:avLst/>
            <a:gdLst/>
            <a:ahLst/>
            <a:cxnLst/>
            <a:rect r="r" b="b" t="t" l="l"/>
            <a:pathLst>
              <a:path h="2175465" w="3489158">
                <a:moveTo>
                  <a:pt x="0" y="0"/>
                </a:moveTo>
                <a:lnTo>
                  <a:pt x="3489158" y="0"/>
                </a:lnTo>
                <a:lnTo>
                  <a:pt x="3489158" y="2175465"/>
                </a:lnTo>
                <a:lnTo>
                  <a:pt x="0" y="21754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388" t="-6532" r="-8150" b="-1206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49765" y="3837587"/>
            <a:ext cx="1599922" cy="42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b="true" sz="2643" spc="-25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MoonLink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30794" y="4402966"/>
            <a:ext cx="1637863" cy="423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b="true" sz="2626" spc="-25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AS 65032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0911" y="4994845"/>
            <a:ext cx="2197630" cy="39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sz="2471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172.16.32.0/24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876833" y="5608109"/>
            <a:ext cx="120316" cy="437279"/>
          </a:xfrm>
          <a:custGeom>
            <a:avLst/>
            <a:gdLst/>
            <a:ahLst/>
            <a:cxnLst/>
            <a:rect r="r" b="b" t="t" l="l"/>
            <a:pathLst>
              <a:path h="437279" w="120316">
                <a:moveTo>
                  <a:pt x="0" y="0"/>
                </a:moveTo>
                <a:lnTo>
                  <a:pt x="120315" y="0"/>
                </a:lnTo>
                <a:lnTo>
                  <a:pt x="120315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2727" t="-10000" r="-18181" b="-3999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211053" y="6384281"/>
            <a:ext cx="3893856" cy="1246247"/>
          </a:xfrm>
          <a:custGeom>
            <a:avLst/>
            <a:gdLst/>
            <a:ahLst/>
            <a:cxnLst/>
            <a:rect r="r" b="b" t="t" l="l"/>
            <a:pathLst>
              <a:path h="1246247" w="3893856">
                <a:moveTo>
                  <a:pt x="0" y="0"/>
                </a:moveTo>
                <a:lnTo>
                  <a:pt x="3893856" y="0"/>
                </a:lnTo>
                <a:lnTo>
                  <a:pt x="3893856" y="1246246"/>
                </a:lnTo>
                <a:lnTo>
                  <a:pt x="0" y="12462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966" t="-14035" r="-4494" b="-7017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888670" y="6604890"/>
            <a:ext cx="2502230" cy="74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34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NÚCLEO</a:t>
            </a:r>
          </a:p>
          <a:p>
            <a:pPr algn="ctr">
              <a:lnSpc>
                <a:spcPts val="3043"/>
              </a:lnSpc>
            </a:pPr>
            <a:r>
              <a:rPr lang="en-US" b="true" sz="2341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WAN NACIONAL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09416" y="7969419"/>
            <a:ext cx="9286191" cy="1760050"/>
          </a:xfrm>
          <a:custGeom>
            <a:avLst/>
            <a:gdLst/>
            <a:ahLst/>
            <a:cxnLst/>
            <a:rect r="r" b="b" t="t" l="l"/>
            <a:pathLst>
              <a:path h="1760050" w="9286191">
                <a:moveTo>
                  <a:pt x="0" y="0"/>
                </a:moveTo>
                <a:lnTo>
                  <a:pt x="9286192" y="0"/>
                </a:lnTo>
                <a:lnTo>
                  <a:pt x="9286192" y="1760050"/>
                </a:lnTo>
                <a:lnTo>
                  <a:pt x="0" y="1760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237" t="-2484" r="-1060" b="-7453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937113" y="8146971"/>
            <a:ext cx="6265505" cy="132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Enrutamiento</a:t>
            </a:r>
          </a:p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Redistribución de </a:t>
            </a:r>
            <a:r>
              <a:rPr lang="en-US" sz="2514" b="true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BGP</a:t>
            </a:r>
            <a:r>
              <a:rPr lang="en-US" sz="251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sobre </a:t>
            </a:r>
            <a:r>
              <a:rPr lang="en-US" sz="2514" b="true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IGP internos</a:t>
            </a:r>
          </a:p>
          <a:p>
            <a:pPr algn="ctr">
              <a:lnSpc>
                <a:spcPts val="3520"/>
              </a:lnSpc>
            </a:pPr>
            <a:r>
              <a:rPr lang="en-US" sz="2514" b="true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OSPF y EIGRP</a:t>
            </a:r>
            <a:r>
              <a:rPr lang="en-US" sz="251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para alcanzabilidad total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93939" y="8338138"/>
            <a:ext cx="1655349" cy="33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049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Equipamiento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75746" y="8786169"/>
            <a:ext cx="3474658" cy="70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148" b="true">
                <a:solidFill>
                  <a:srgbClr val="30B6E6"/>
                </a:solidFill>
                <a:latin typeface="Inter Bold"/>
                <a:ea typeface="Inter Bold"/>
                <a:cs typeface="Inter Bold"/>
                <a:sym typeface="Inter Bold"/>
              </a:rPr>
              <a:t>Transeptores de fibra monomodo GLC-LH-SMD.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3578" y="916831"/>
            <a:ext cx="7578155" cy="1045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2"/>
              </a:lnSpc>
            </a:pPr>
            <a:r>
              <a:rPr lang="en-US" sz="7541" spc="-224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ISP 1 FibraNet GT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23455" y="2295717"/>
            <a:ext cx="1050029" cy="120252"/>
          </a:xfrm>
          <a:custGeom>
            <a:avLst/>
            <a:gdLst/>
            <a:ahLst/>
            <a:cxnLst/>
            <a:rect r="r" b="b" t="t" l="l"/>
            <a:pathLst>
              <a:path h="120252" w="1050029">
                <a:moveTo>
                  <a:pt x="0" y="0"/>
                </a:moveTo>
                <a:lnTo>
                  <a:pt x="1050028" y="0"/>
                </a:lnTo>
                <a:lnTo>
                  <a:pt x="1050028" y="120252"/>
                </a:lnTo>
                <a:lnTo>
                  <a:pt x="0" y="120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750" t="-127272" r="-7291" b="-13636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6148" y="3099689"/>
            <a:ext cx="5089922" cy="8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Topología en </a:t>
            </a: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árbol jerárquica</a:t>
            </a:r>
          </a:p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bucles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148" y="4184070"/>
            <a:ext cx="5089922" cy="80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Enrutamiento interno con</a:t>
            </a:r>
          </a:p>
          <a:p>
            <a:pPr algn="l">
              <a:lnSpc>
                <a:spcPts val="3341"/>
              </a:lnSpc>
            </a:pP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OSPF Área 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6148" y="5289089"/>
            <a:ext cx="5089922" cy="121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Enlaces de acceso con</a:t>
            </a:r>
          </a:p>
          <a:p>
            <a:pPr algn="l">
              <a:lnSpc>
                <a:spcPts val="3341"/>
              </a:lnSpc>
            </a:pP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 enlaces LACP</a:t>
            </a: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activos</a:t>
            </a:r>
          </a:p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mediante EthernetChannel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6148" y="6765052"/>
            <a:ext cx="5089922" cy="121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Servicios centralizados</a:t>
            </a:r>
          </a:p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Servidor </a:t>
            </a: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DNS</a:t>
            </a: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HTTP/HTTPS</a:t>
            </a: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global</a:t>
            </a:r>
          </a:p>
          <a:p>
            <a:pPr algn="l">
              <a:lnSpc>
                <a:spcPts val="3341"/>
              </a:lnSpc>
            </a:pP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wwwproyecto2_202004777.com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6148" y="8241014"/>
            <a:ext cx="5089922" cy="121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Redes departamentales</a:t>
            </a:r>
          </a:p>
          <a:p>
            <a:pPr algn="l">
              <a:lnSpc>
                <a:spcPts val="3341"/>
              </a:lnSpc>
            </a:pP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Administración</a:t>
            </a: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Atención al Cliente</a:t>
            </a:r>
          </a:p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subredes </a:t>
            </a:r>
            <a:r>
              <a:rPr lang="en-US" sz="2227" spc="-44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/25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500287" y="1311838"/>
            <a:ext cx="2351627" cy="2295717"/>
          </a:xfrm>
          <a:custGeom>
            <a:avLst/>
            <a:gdLst/>
            <a:ahLst/>
            <a:cxnLst/>
            <a:rect r="r" b="b" t="t" l="l"/>
            <a:pathLst>
              <a:path h="2295717" w="2351627">
                <a:moveTo>
                  <a:pt x="0" y="0"/>
                </a:moveTo>
                <a:lnTo>
                  <a:pt x="2351627" y="0"/>
                </a:lnTo>
                <a:lnTo>
                  <a:pt x="2351627" y="2295718"/>
                </a:lnTo>
                <a:lnTo>
                  <a:pt x="0" y="229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5" t="-1428" r="0" b="-190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50220" y="4383727"/>
            <a:ext cx="2406316" cy="1956826"/>
          </a:xfrm>
          <a:custGeom>
            <a:avLst/>
            <a:gdLst/>
            <a:ahLst/>
            <a:cxnLst/>
            <a:rect r="r" b="b" t="t" l="l"/>
            <a:pathLst>
              <a:path h="1956826" w="2406316">
                <a:moveTo>
                  <a:pt x="0" y="0"/>
                </a:moveTo>
                <a:lnTo>
                  <a:pt x="2406316" y="0"/>
                </a:lnTo>
                <a:lnTo>
                  <a:pt x="2406316" y="1956826"/>
                </a:lnTo>
                <a:lnTo>
                  <a:pt x="0" y="1956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27" r="0" b="-5027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891769" y="4500149"/>
            <a:ext cx="2506128" cy="1873751"/>
            <a:chOff x="0" y="0"/>
            <a:chExt cx="2909893" cy="21767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5" y="-4926"/>
              <a:ext cx="2909980" cy="2186632"/>
            </a:xfrm>
            <a:custGeom>
              <a:avLst/>
              <a:gdLst/>
              <a:ahLst/>
              <a:cxnLst/>
              <a:rect r="r" b="b" t="t" l="l"/>
              <a:pathLst>
                <a:path h="2186632" w="2909980">
                  <a:moveTo>
                    <a:pt x="15" y="1093316"/>
                  </a:moveTo>
                  <a:cubicBezTo>
                    <a:pt x="-2317" y="703295"/>
                    <a:pt x="274489" y="342152"/>
                    <a:pt x="725618" y="146637"/>
                  </a:cubicBezTo>
                  <a:cubicBezTo>
                    <a:pt x="1176747" y="-48879"/>
                    <a:pt x="1733234" y="-48879"/>
                    <a:pt x="2184363" y="146637"/>
                  </a:cubicBezTo>
                  <a:cubicBezTo>
                    <a:pt x="2635492" y="342152"/>
                    <a:pt x="2912298" y="703295"/>
                    <a:pt x="2909966" y="1093316"/>
                  </a:cubicBezTo>
                  <a:cubicBezTo>
                    <a:pt x="2912298" y="1483337"/>
                    <a:pt x="2635492" y="1844480"/>
                    <a:pt x="2184363" y="2039995"/>
                  </a:cubicBezTo>
                  <a:cubicBezTo>
                    <a:pt x="1733234" y="2235511"/>
                    <a:pt x="1176747" y="2235511"/>
                    <a:pt x="725618" y="2039995"/>
                  </a:cubicBezTo>
                  <a:cubicBezTo>
                    <a:pt x="274489" y="1844480"/>
                    <a:pt x="-2317" y="1483337"/>
                    <a:pt x="15" y="1093316"/>
                  </a:cubicBezTo>
                  <a:close/>
                </a:path>
              </a:pathLst>
            </a:custGeom>
            <a:blipFill>
              <a:blip r:embed="rId6"/>
              <a:stretch>
                <a:fillRect l="-2026" t="-11187" r="-2716" b="-323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459373" y="6682043"/>
            <a:ext cx="2463269" cy="1485096"/>
            <a:chOff x="0" y="0"/>
            <a:chExt cx="2860129" cy="1725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14" y="-3866"/>
              <a:ext cx="2860069" cy="1732900"/>
            </a:xfrm>
            <a:custGeom>
              <a:avLst/>
              <a:gdLst/>
              <a:ahLst/>
              <a:cxnLst/>
              <a:rect r="r" b="b" t="t" l="l"/>
              <a:pathLst>
                <a:path h="1732900" w="2860069">
                  <a:moveTo>
                    <a:pt x="14" y="866450"/>
                  </a:moveTo>
                  <a:cubicBezTo>
                    <a:pt x="-2278" y="557359"/>
                    <a:pt x="269780" y="271155"/>
                    <a:pt x="713171" y="116209"/>
                  </a:cubicBezTo>
                  <a:cubicBezTo>
                    <a:pt x="1156563" y="-38737"/>
                    <a:pt x="1703505" y="-38737"/>
                    <a:pt x="2146897" y="116209"/>
                  </a:cubicBezTo>
                  <a:cubicBezTo>
                    <a:pt x="2590288" y="271155"/>
                    <a:pt x="2862345" y="557359"/>
                    <a:pt x="2860054" y="866450"/>
                  </a:cubicBezTo>
                  <a:cubicBezTo>
                    <a:pt x="2862345" y="1175541"/>
                    <a:pt x="2590288" y="1461745"/>
                    <a:pt x="2146897" y="1616691"/>
                  </a:cubicBezTo>
                  <a:cubicBezTo>
                    <a:pt x="1703505" y="1771637"/>
                    <a:pt x="1156563" y="1771637"/>
                    <a:pt x="713171" y="1616691"/>
                  </a:cubicBezTo>
                  <a:cubicBezTo>
                    <a:pt x="269780" y="1461745"/>
                    <a:pt x="-2278" y="1175541"/>
                    <a:pt x="14" y="866450"/>
                  </a:cubicBezTo>
                  <a:close/>
                </a:path>
              </a:pathLst>
            </a:custGeom>
            <a:blipFill>
              <a:blip r:embed="rId7"/>
              <a:stretch>
                <a:fillRect l="-6018" t="-16807" r="-552" b="1745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793990" y="6624784"/>
            <a:ext cx="2493818" cy="1508614"/>
          </a:xfrm>
          <a:custGeom>
            <a:avLst/>
            <a:gdLst/>
            <a:ahLst/>
            <a:cxnLst/>
            <a:rect r="r" b="b" t="t" l="l"/>
            <a:pathLst>
              <a:path h="1508614" w="2493818">
                <a:moveTo>
                  <a:pt x="0" y="0"/>
                </a:moveTo>
                <a:lnTo>
                  <a:pt x="2493819" y="0"/>
                </a:lnTo>
                <a:lnTo>
                  <a:pt x="2493819" y="1508615"/>
                </a:lnTo>
                <a:lnTo>
                  <a:pt x="0" y="15086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508" t="-13043" r="-1754" b="-72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900325" y="6635716"/>
            <a:ext cx="2471943" cy="1497682"/>
          </a:xfrm>
          <a:custGeom>
            <a:avLst/>
            <a:gdLst/>
            <a:ahLst/>
            <a:cxnLst/>
            <a:rect r="r" b="b" t="t" l="l"/>
            <a:pathLst>
              <a:path h="1497682" w="2471943">
                <a:moveTo>
                  <a:pt x="0" y="0"/>
                </a:moveTo>
                <a:lnTo>
                  <a:pt x="2471943" y="0"/>
                </a:lnTo>
                <a:lnTo>
                  <a:pt x="2471943" y="1497683"/>
                </a:lnTo>
                <a:lnTo>
                  <a:pt x="0" y="1497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194" t="0" r="0" b="-72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426957" y="6635716"/>
            <a:ext cx="2450067" cy="1486750"/>
          </a:xfrm>
          <a:custGeom>
            <a:avLst/>
            <a:gdLst/>
            <a:ahLst/>
            <a:cxnLst/>
            <a:rect r="r" b="b" t="t" l="l"/>
            <a:pathLst>
              <a:path h="1486750" w="2450067">
                <a:moveTo>
                  <a:pt x="0" y="0"/>
                </a:moveTo>
                <a:lnTo>
                  <a:pt x="2450067" y="0"/>
                </a:lnTo>
                <a:lnTo>
                  <a:pt x="2450067" y="1486751"/>
                </a:lnTo>
                <a:lnTo>
                  <a:pt x="0" y="14867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78" t="0" r="-4464" b="-147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647139" y="3410780"/>
            <a:ext cx="1662545" cy="1289974"/>
          </a:xfrm>
          <a:custGeom>
            <a:avLst/>
            <a:gdLst/>
            <a:ahLst/>
            <a:cxnLst/>
            <a:rect r="r" b="b" t="t" l="l"/>
            <a:pathLst>
              <a:path h="1289974" w="1662545">
                <a:moveTo>
                  <a:pt x="0" y="0"/>
                </a:moveTo>
                <a:lnTo>
                  <a:pt x="1662545" y="0"/>
                </a:lnTo>
                <a:lnTo>
                  <a:pt x="1662545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763" t="-15254" r="-1315" b="-169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053455" y="3410780"/>
            <a:ext cx="1662545" cy="1333702"/>
          </a:xfrm>
          <a:custGeom>
            <a:avLst/>
            <a:gdLst/>
            <a:ahLst/>
            <a:cxnLst/>
            <a:rect r="r" b="b" t="t" l="l"/>
            <a:pathLst>
              <a:path h="1333702" w="1662545">
                <a:moveTo>
                  <a:pt x="0" y="0"/>
                </a:moveTo>
                <a:lnTo>
                  <a:pt x="1662545" y="0"/>
                </a:lnTo>
                <a:lnTo>
                  <a:pt x="1662545" y="1333702"/>
                </a:lnTo>
                <a:lnTo>
                  <a:pt x="0" y="13337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5263" t="-14754" r="-13157" b="-13934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34584" y="5761157"/>
            <a:ext cx="1235971" cy="1191587"/>
          </a:xfrm>
          <a:custGeom>
            <a:avLst/>
            <a:gdLst/>
            <a:ahLst/>
            <a:cxnLst/>
            <a:rect r="r" b="b" t="t" l="l"/>
            <a:pathLst>
              <a:path h="1191587" w="1235971">
                <a:moveTo>
                  <a:pt x="0" y="0"/>
                </a:moveTo>
                <a:lnTo>
                  <a:pt x="1235971" y="0"/>
                </a:lnTo>
                <a:lnTo>
                  <a:pt x="1235971" y="1191587"/>
                </a:lnTo>
                <a:lnTo>
                  <a:pt x="0" y="11915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9469" t="-16513" r="-5309" b="-1009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95569" y="5783021"/>
            <a:ext cx="896900" cy="1213451"/>
          </a:xfrm>
          <a:custGeom>
            <a:avLst/>
            <a:gdLst/>
            <a:ahLst/>
            <a:cxnLst/>
            <a:rect r="r" b="b" t="t" l="l"/>
            <a:pathLst>
              <a:path h="1213451" w="896900">
                <a:moveTo>
                  <a:pt x="0" y="0"/>
                </a:moveTo>
                <a:lnTo>
                  <a:pt x="896900" y="0"/>
                </a:lnTo>
                <a:lnTo>
                  <a:pt x="896900" y="1213451"/>
                </a:lnTo>
                <a:lnTo>
                  <a:pt x="0" y="12134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8048" t="-18018" r="-18292" b="-630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26919" y="5783021"/>
            <a:ext cx="907837" cy="1289974"/>
          </a:xfrm>
          <a:custGeom>
            <a:avLst/>
            <a:gdLst/>
            <a:ahLst/>
            <a:cxnLst/>
            <a:rect r="r" b="b" t="t" l="l"/>
            <a:pathLst>
              <a:path h="1289974" w="907837">
                <a:moveTo>
                  <a:pt x="0" y="0"/>
                </a:moveTo>
                <a:lnTo>
                  <a:pt x="907837" y="0"/>
                </a:lnTo>
                <a:lnTo>
                  <a:pt x="907837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0481" t="-16949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459770" y="5793953"/>
            <a:ext cx="1356287" cy="1246247"/>
          </a:xfrm>
          <a:custGeom>
            <a:avLst/>
            <a:gdLst/>
            <a:ahLst/>
            <a:cxnLst/>
            <a:rect r="r" b="b" t="t" l="l"/>
            <a:pathLst>
              <a:path h="1246247" w="1356287">
                <a:moveTo>
                  <a:pt x="0" y="0"/>
                </a:moveTo>
                <a:lnTo>
                  <a:pt x="1356287" y="0"/>
                </a:lnTo>
                <a:lnTo>
                  <a:pt x="1356287" y="1246247"/>
                </a:lnTo>
                <a:lnTo>
                  <a:pt x="0" y="12462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7258" t="-18421" r="-6451" b="-263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61215" y="5127102"/>
            <a:ext cx="3117273" cy="371688"/>
          </a:xfrm>
          <a:custGeom>
            <a:avLst/>
            <a:gdLst/>
            <a:ahLst/>
            <a:cxnLst/>
            <a:rect r="r" b="b" t="t" l="l"/>
            <a:pathLst>
              <a:path h="371688" w="3117273">
                <a:moveTo>
                  <a:pt x="0" y="0"/>
                </a:moveTo>
                <a:lnTo>
                  <a:pt x="3117273" y="0"/>
                </a:lnTo>
                <a:lnTo>
                  <a:pt x="3117273" y="371688"/>
                </a:lnTo>
                <a:lnTo>
                  <a:pt x="0" y="37168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4912" t="-55882" r="-350" b="-2058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644096" y="2000554"/>
            <a:ext cx="1028153" cy="109320"/>
          </a:xfrm>
          <a:custGeom>
            <a:avLst/>
            <a:gdLst/>
            <a:ahLst/>
            <a:cxnLst/>
            <a:rect r="r" b="b" t="t" l="l"/>
            <a:pathLst>
              <a:path h="109320" w="1028153">
                <a:moveTo>
                  <a:pt x="0" y="0"/>
                </a:moveTo>
                <a:lnTo>
                  <a:pt x="1028153" y="0"/>
                </a:lnTo>
                <a:lnTo>
                  <a:pt x="1028153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127" t="-69999" r="-4255" b="-4000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822777" y="1456828"/>
            <a:ext cx="2716870" cy="34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 spc="-39" b="true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Servicios centralizados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26708" y="1818288"/>
            <a:ext cx="2323758" cy="70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1949" spc="-3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Servidor DNS</a:t>
            </a:r>
          </a:p>
          <a:p>
            <a:pPr algn="l">
              <a:lnSpc>
                <a:spcPts val="2923"/>
              </a:lnSpc>
            </a:pPr>
            <a:r>
              <a:rPr lang="en-US" sz="1949" spc="-3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HTTP/HTTPS global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15290" y="2620765"/>
            <a:ext cx="3465490" cy="3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spc="-35" b="true">
                <a:solidFill>
                  <a:srgbClr val="26B0E4"/>
                </a:solidFill>
                <a:latin typeface="Inter Medium"/>
                <a:ea typeface="Inter Medium"/>
                <a:cs typeface="Inter Medium"/>
                <a:sym typeface="Inter Medium"/>
              </a:rPr>
              <a:t>wwwproyecto2_202004777.com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945502" y="8297378"/>
            <a:ext cx="3707914" cy="1366498"/>
          </a:xfrm>
          <a:custGeom>
            <a:avLst/>
            <a:gdLst/>
            <a:ahLst/>
            <a:cxnLst/>
            <a:rect r="r" b="b" t="t" l="l"/>
            <a:pathLst>
              <a:path h="1366498" w="3707914">
                <a:moveTo>
                  <a:pt x="0" y="0"/>
                </a:moveTo>
                <a:lnTo>
                  <a:pt x="3707914" y="0"/>
                </a:lnTo>
                <a:lnTo>
                  <a:pt x="3707914" y="1366499"/>
                </a:lnTo>
                <a:lnTo>
                  <a:pt x="0" y="136649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5309" t="-12000" r="-589" b="-1440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724667" y="8511101"/>
            <a:ext cx="2107145" cy="41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2337" spc="-46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Administración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64017" y="8932804"/>
            <a:ext cx="1828447" cy="41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2337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Subredes /25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2797225" y="8286446"/>
            <a:ext cx="3871981" cy="1377430"/>
          </a:xfrm>
          <a:custGeom>
            <a:avLst/>
            <a:gdLst/>
            <a:ahLst/>
            <a:cxnLst/>
            <a:rect r="r" b="b" t="t" l="l"/>
            <a:pathLst>
              <a:path h="1377430" w="3871981">
                <a:moveTo>
                  <a:pt x="0" y="0"/>
                </a:moveTo>
                <a:lnTo>
                  <a:pt x="3871981" y="0"/>
                </a:lnTo>
                <a:lnTo>
                  <a:pt x="3871981" y="1377431"/>
                </a:lnTo>
                <a:lnTo>
                  <a:pt x="0" y="137743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519" t="-11111" r="-2542" b="-1428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421456" y="8511101"/>
            <a:ext cx="2607911" cy="41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2337" spc="-46">
                <a:solidFill>
                  <a:srgbClr val="26B0E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Atención al Cliente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11189" y="8932804"/>
            <a:ext cx="1828447" cy="415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2337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Subredes /25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08010" y="841763"/>
            <a:ext cx="10303407" cy="1945894"/>
          </a:xfrm>
          <a:custGeom>
            <a:avLst/>
            <a:gdLst/>
            <a:ahLst/>
            <a:cxnLst/>
            <a:rect r="r" b="b" t="t" l="l"/>
            <a:pathLst>
              <a:path h="1945894" w="10303407">
                <a:moveTo>
                  <a:pt x="0" y="0"/>
                </a:moveTo>
                <a:lnTo>
                  <a:pt x="10303406" y="0"/>
                </a:lnTo>
                <a:lnTo>
                  <a:pt x="1030340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8" t="-10674" r="-127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29866" y="3214004"/>
            <a:ext cx="11550316" cy="1934962"/>
          </a:xfrm>
          <a:custGeom>
            <a:avLst/>
            <a:gdLst/>
            <a:ahLst/>
            <a:cxnLst/>
            <a:rect r="r" b="b" t="t" l="l"/>
            <a:pathLst>
              <a:path h="1934962" w="11550316">
                <a:moveTo>
                  <a:pt x="0" y="0"/>
                </a:moveTo>
                <a:lnTo>
                  <a:pt x="11550316" y="0"/>
                </a:lnTo>
                <a:lnTo>
                  <a:pt x="1155031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04852" y="5684633"/>
            <a:ext cx="12283148" cy="1738186"/>
          </a:xfrm>
          <a:custGeom>
            <a:avLst/>
            <a:gdLst/>
            <a:ahLst/>
            <a:cxnLst/>
            <a:rect r="r" b="b" t="t" l="l"/>
            <a:pathLst>
              <a:path h="1738186" w="12283148">
                <a:moveTo>
                  <a:pt x="0" y="0"/>
                </a:moveTo>
                <a:lnTo>
                  <a:pt x="12283148" y="0"/>
                </a:lnTo>
                <a:lnTo>
                  <a:pt x="12283148" y="1738186"/>
                </a:lnTo>
                <a:lnTo>
                  <a:pt x="0" y="1738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8" t="-6918" r="0" b="-503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50239" y="1464886"/>
            <a:ext cx="1793799" cy="808967"/>
          </a:xfrm>
          <a:custGeom>
            <a:avLst/>
            <a:gdLst/>
            <a:ahLst/>
            <a:cxnLst/>
            <a:rect r="r" b="b" t="t" l="l"/>
            <a:pathLst>
              <a:path h="808967" w="1793799">
                <a:moveTo>
                  <a:pt x="0" y="0"/>
                </a:moveTo>
                <a:lnTo>
                  <a:pt x="1793799" y="0"/>
                </a:lnTo>
                <a:lnTo>
                  <a:pt x="1793799" y="808967"/>
                </a:lnTo>
                <a:lnTo>
                  <a:pt x="0" y="8089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39" t="-22972" r="-7317" b="-1081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53455" y="1453954"/>
            <a:ext cx="1760986" cy="808967"/>
          </a:xfrm>
          <a:custGeom>
            <a:avLst/>
            <a:gdLst/>
            <a:ahLst/>
            <a:cxnLst/>
            <a:rect r="r" b="b" t="t" l="l"/>
            <a:pathLst>
              <a:path h="808967" w="1760986">
                <a:moveTo>
                  <a:pt x="0" y="0"/>
                </a:moveTo>
                <a:lnTo>
                  <a:pt x="1760985" y="0"/>
                </a:lnTo>
                <a:lnTo>
                  <a:pt x="1760985" y="808967"/>
                </a:lnTo>
                <a:lnTo>
                  <a:pt x="0" y="808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68" t="-21621" r="-6832" b="-1216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334603" y="3979243"/>
            <a:ext cx="2012555" cy="808967"/>
          </a:xfrm>
          <a:custGeom>
            <a:avLst/>
            <a:gdLst/>
            <a:ahLst/>
            <a:cxnLst/>
            <a:rect r="r" b="b" t="t" l="l"/>
            <a:pathLst>
              <a:path h="808967" w="2012555">
                <a:moveTo>
                  <a:pt x="0" y="0"/>
                </a:moveTo>
                <a:lnTo>
                  <a:pt x="2012555" y="0"/>
                </a:lnTo>
                <a:lnTo>
                  <a:pt x="2012555" y="808967"/>
                </a:lnTo>
                <a:lnTo>
                  <a:pt x="0" y="8089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60" t="-16216" r="-5434" b="-1756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83148" y="3979243"/>
            <a:ext cx="1914115" cy="787103"/>
          </a:xfrm>
          <a:custGeom>
            <a:avLst/>
            <a:gdLst/>
            <a:ahLst/>
            <a:cxnLst/>
            <a:rect r="r" b="b" t="t" l="l"/>
            <a:pathLst>
              <a:path h="787103" w="1914115">
                <a:moveTo>
                  <a:pt x="0" y="0"/>
                </a:moveTo>
                <a:lnTo>
                  <a:pt x="1914115" y="0"/>
                </a:lnTo>
                <a:lnTo>
                  <a:pt x="1914115" y="787103"/>
                </a:lnTo>
                <a:lnTo>
                  <a:pt x="0" y="7871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142" t="-16666" r="-9142" b="-2083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17368" y="6231233"/>
            <a:ext cx="1859426" cy="721511"/>
          </a:xfrm>
          <a:custGeom>
            <a:avLst/>
            <a:gdLst/>
            <a:ahLst/>
            <a:cxnLst/>
            <a:rect r="r" b="b" t="t" l="l"/>
            <a:pathLst>
              <a:path h="721511" w="1859426">
                <a:moveTo>
                  <a:pt x="0" y="0"/>
                </a:moveTo>
                <a:lnTo>
                  <a:pt x="1859426" y="0"/>
                </a:lnTo>
                <a:lnTo>
                  <a:pt x="1859426" y="721511"/>
                </a:lnTo>
                <a:lnTo>
                  <a:pt x="0" y="7215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705" t="-3030" r="-1176" b="-1666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06488" y="6231233"/>
            <a:ext cx="1859426" cy="710579"/>
          </a:xfrm>
          <a:custGeom>
            <a:avLst/>
            <a:gdLst/>
            <a:ahLst/>
            <a:cxnLst/>
            <a:rect r="r" b="b" t="t" l="l"/>
            <a:pathLst>
              <a:path h="710579" w="1859426">
                <a:moveTo>
                  <a:pt x="0" y="0"/>
                </a:moveTo>
                <a:lnTo>
                  <a:pt x="1859426" y="0"/>
                </a:lnTo>
                <a:lnTo>
                  <a:pt x="1859426" y="710579"/>
                </a:lnTo>
                <a:lnTo>
                  <a:pt x="0" y="710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076" r="-5882" b="-1846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97206" y="6220301"/>
            <a:ext cx="1837550" cy="732443"/>
          </a:xfrm>
          <a:custGeom>
            <a:avLst/>
            <a:gdLst/>
            <a:ahLst/>
            <a:cxnLst/>
            <a:rect r="r" b="b" t="t" l="l"/>
            <a:pathLst>
              <a:path h="732443" w="1837550">
                <a:moveTo>
                  <a:pt x="0" y="0"/>
                </a:moveTo>
                <a:lnTo>
                  <a:pt x="1837550" y="0"/>
                </a:lnTo>
                <a:lnTo>
                  <a:pt x="1837550" y="732443"/>
                </a:lnTo>
                <a:lnTo>
                  <a:pt x="0" y="7324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142" t="-1492" r="0" b="-1641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64450" y="6242165"/>
            <a:ext cx="1859426" cy="699647"/>
          </a:xfrm>
          <a:custGeom>
            <a:avLst/>
            <a:gdLst/>
            <a:ahLst/>
            <a:cxnLst/>
            <a:rect r="r" b="b" t="t" l="l"/>
            <a:pathLst>
              <a:path h="699647" w="1859426">
                <a:moveTo>
                  <a:pt x="0" y="0"/>
                </a:moveTo>
                <a:lnTo>
                  <a:pt x="1859426" y="0"/>
                </a:lnTo>
                <a:lnTo>
                  <a:pt x="1859426" y="699647"/>
                </a:lnTo>
                <a:lnTo>
                  <a:pt x="0" y="6996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76" t="-4687" r="-4705" b="-1874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31541" y="7685187"/>
            <a:ext cx="1203158" cy="1628866"/>
          </a:xfrm>
          <a:custGeom>
            <a:avLst/>
            <a:gdLst/>
            <a:ahLst/>
            <a:cxnLst/>
            <a:rect r="r" b="b" t="t" l="l"/>
            <a:pathLst>
              <a:path h="1628866" w="1203158">
                <a:moveTo>
                  <a:pt x="0" y="0"/>
                </a:moveTo>
                <a:lnTo>
                  <a:pt x="1203158" y="0"/>
                </a:lnTo>
                <a:lnTo>
                  <a:pt x="1203158" y="1628866"/>
                </a:lnTo>
                <a:lnTo>
                  <a:pt x="0" y="16288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5454" t="-11409" r="-11818" b="-738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478411" y="1672594"/>
            <a:ext cx="1596919" cy="262368"/>
          </a:xfrm>
          <a:custGeom>
            <a:avLst/>
            <a:gdLst/>
            <a:ahLst/>
            <a:cxnLst/>
            <a:rect r="r" b="b" t="t" l="l"/>
            <a:pathLst>
              <a:path h="262368" w="1596919">
                <a:moveTo>
                  <a:pt x="0" y="0"/>
                </a:moveTo>
                <a:lnTo>
                  <a:pt x="1596919" y="0"/>
                </a:lnTo>
                <a:lnTo>
                  <a:pt x="1596919" y="262368"/>
                </a:lnTo>
                <a:lnTo>
                  <a:pt x="0" y="2623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5753" t="-66666" r="-7534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67474" y="1913098"/>
            <a:ext cx="1618794" cy="229572"/>
          </a:xfrm>
          <a:custGeom>
            <a:avLst/>
            <a:gdLst/>
            <a:ahLst/>
            <a:cxnLst/>
            <a:rect r="r" b="b" t="t" l="l"/>
            <a:pathLst>
              <a:path h="229572" w="1618794">
                <a:moveTo>
                  <a:pt x="0" y="0"/>
                </a:moveTo>
                <a:lnTo>
                  <a:pt x="1618794" y="0"/>
                </a:lnTo>
                <a:lnTo>
                  <a:pt x="161879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4864" t="-90476" r="-6756" b="-9523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33062" y="2142670"/>
            <a:ext cx="667206" cy="2055214"/>
          </a:xfrm>
          <a:custGeom>
            <a:avLst/>
            <a:gdLst/>
            <a:ahLst/>
            <a:cxnLst/>
            <a:rect r="r" b="b" t="t" l="l"/>
            <a:pathLst>
              <a:path h="2055214" w="667206">
                <a:moveTo>
                  <a:pt x="0" y="0"/>
                </a:moveTo>
                <a:lnTo>
                  <a:pt x="667206" y="0"/>
                </a:lnTo>
                <a:lnTo>
                  <a:pt x="667206" y="2055213"/>
                </a:lnTo>
                <a:lnTo>
                  <a:pt x="0" y="20552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1147" t="0" r="-32786" b="-4787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833081" y="2219193"/>
            <a:ext cx="2975081" cy="1825642"/>
          </a:xfrm>
          <a:custGeom>
            <a:avLst/>
            <a:gdLst/>
            <a:ahLst/>
            <a:cxnLst/>
            <a:rect r="r" b="b" t="t" l="l"/>
            <a:pathLst>
              <a:path h="1825642" w="2975081">
                <a:moveTo>
                  <a:pt x="0" y="0"/>
                </a:moveTo>
                <a:lnTo>
                  <a:pt x="2975082" y="0"/>
                </a:lnTo>
                <a:lnTo>
                  <a:pt x="2975082" y="1825642"/>
                </a:lnTo>
                <a:lnTo>
                  <a:pt x="0" y="182564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8823" t="-4191" r="-8823" b="-1377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819100" y="2186397"/>
            <a:ext cx="656268" cy="2000554"/>
          </a:xfrm>
          <a:custGeom>
            <a:avLst/>
            <a:gdLst/>
            <a:ahLst/>
            <a:cxnLst/>
            <a:rect r="r" b="b" t="t" l="l"/>
            <a:pathLst>
              <a:path h="2000554" w="656268">
                <a:moveTo>
                  <a:pt x="0" y="0"/>
                </a:moveTo>
                <a:lnTo>
                  <a:pt x="656268" y="0"/>
                </a:lnTo>
                <a:lnTo>
                  <a:pt x="656268" y="2000554"/>
                </a:lnTo>
                <a:lnTo>
                  <a:pt x="0" y="20005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0000" t="-2185" r="-36666" b="-546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325282" y="4383727"/>
            <a:ext cx="2023493" cy="65592"/>
          </a:xfrm>
          <a:custGeom>
            <a:avLst/>
            <a:gdLst/>
            <a:ahLst/>
            <a:cxnLst/>
            <a:rect r="r" b="b" t="t" l="l"/>
            <a:pathLst>
              <a:path h="65592" w="2023493">
                <a:moveTo>
                  <a:pt x="0" y="0"/>
                </a:moveTo>
                <a:lnTo>
                  <a:pt x="2023493" y="0"/>
                </a:lnTo>
                <a:lnTo>
                  <a:pt x="2023493" y="65592"/>
                </a:lnTo>
                <a:lnTo>
                  <a:pt x="0" y="6559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4864" t="-150000" r="-3243" b="-83333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765837" y="4821006"/>
            <a:ext cx="1060967" cy="1453954"/>
          </a:xfrm>
          <a:custGeom>
            <a:avLst/>
            <a:gdLst/>
            <a:ahLst/>
            <a:cxnLst/>
            <a:rect r="r" b="b" t="t" l="l"/>
            <a:pathLst>
              <a:path h="1453954" w="1060967">
                <a:moveTo>
                  <a:pt x="0" y="0"/>
                </a:moveTo>
                <a:lnTo>
                  <a:pt x="1060967" y="0"/>
                </a:lnTo>
                <a:lnTo>
                  <a:pt x="1060967" y="1453955"/>
                </a:lnTo>
                <a:lnTo>
                  <a:pt x="0" y="145395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4432" t="-22556" r="-10309" b="-1127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59636" y="4755414"/>
            <a:ext cx="262507" cy="1585138"/>
          </a:xfrm>
          <a:custGeom>
            <a:avLst/>
            <a:gdLst/>
            <a:ahLst/>
            <a:cxnLst/>
            <a:rect r="r" b="b" t="t" l="l"/>
            <a:pathLst>
              <a:path h="1585138" w="262507">
                <a:moveTo>
                  <a:pt x="0" y="0"/>
                </a:moveTo>
                <a:lnTo>
                  <a:pt x="262508" y="0"/>
                </a:lnTo>
                <a:lnTo>
                  <a:pt x="262508" y="1585139"/>
                </a:lnTo>
                <a:lnTo>
                  <a:pt x="0" y="15851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79166" t="-16551" r="-75000" b="-620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851914" y="4777278"/>
            <a:ext cx="251569" cy="1563274"/>
          </a:xfrm>
          <a:custGeom>
            <a:avLst/>
            <a:gdLst/>
            <a:ahLst/>
            <a:cxnLst/>
            <a:rect r="r" b="b" t="t" l="l"/>
            <a:pathLst>
              <a:path h="1563274" w="251569">
                <a:moveTo>
                  <a:pt x="0" y="0"/>
                </a:moveTo>
                <a:lnTo>
                  <a:pt x="251569" y="0"/>
                </a:lnTo>
                <a:lnTo>
                  <a:pt x="251569" y="1563275"/>
                </a:lnTo>
                <a:lnTo>
                  <a:pt x="0" y="15632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91304" t="-18181" r="-73913" b="-6293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825378" y="4755414"/>
            <a:ext cx="1060967" cy="1574206"/>
          </a:xfrm>
          <a:custGeom>
            <a:avLst/>
            <a:gdLst/>
            <a:ahLst/>
            <a:cxnLst/>
            <a:rect r="r" b="b" t="t" l="l"/>
            <a:pathLst>
              <a:path h="1574206" w="1060967">
                <a:moveTo>
                  <a:pt x="0" y="0"/>
                </a:moveTo>
                <a:lnTo>
                  <a:pt x="1060966" y="0"/>
                </a:lnTo>
                <a:lnTo>
                  <a:pt x="1060966" y="1574207"/>
                </a:lnTo>
                <a:lnTo>
                  <a:pt x="0" y="157420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30927" t="-16666" r="-13402" b="-6944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754900" y="7062064"/>
            <a:ext cx="2931330" cy="1311838"/>
          </a:xfrm>
          <a:custGeom>
            <a:avLst/>
            <a:gdLst/>
            <a:ahLst/>
            <a:cxnLst/>
            <a:rect r="r" b="b" t="t" l="l"/>
            <a:pathLst>
              <a:path h="1311838" w="2931330">
                <a:moveTo>
                  <a:pt x="0" y="0"/>
                </a:moveTo>
                <a:lnTo>
                  <a:pt x="2931330" y="0"/>
                </a:lnTo>
                <a:lnTo>
                  <a:pt x="2931330" y="1311838"/>
                </a:lnTo>
                <a:lnTo>
                  <a:pt x="0" y="1311838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4850" t="-15833" r="-7089" b="-15833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01828" y="7072996"/>
            <a:ext cx="1104718" cy="776171"/>
          </a:xfrm>
          <a:custGeom>
            <a:avLst/>
            <a:gdLst/>
            <a:ahLst/>
            <a:cxnLst/>
            <a:rect r="r" b="b" t="t" l="l"/>
            <a:pathLst>
              <a:path h="776171" w="1104718">
                <a:moveTo>
                  <a:pt x="0" y="0"/>
                </a:moveTo>
                <a:lnTo>
                  <a:pt x="1104717" y="0"/>
                </a:lnTo>
                <a:lnTo>
                  <a:pt x="1104717" y="776171"/>
                </a:lnTo>
                <a:lnTo>
                  <a:pt x="0" y="7761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11881" t="-28169" r="-27722" b="-11267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758134" y="7062064"/>
            <a:ext cx="3062584" cy="1311838"/>
          </a:xfrm>
          <a:custGeom>
            <a:avLst/>
            <a:gdLst/>
            <a:ahLst/>
            <a:cxnLst/>
            <a:rect r="r" b="b" t="t" l="l"/>
            <a:pathLst>
              <a:path h="1311838" w="3062584">
                <a:moveTo>
                  <a:pt x="0" y="0"/>
                </a:moveTo>
                <a:lnTo>
                  <a:pt x="3062584" y="0"/>
                </a:lnTo>
                <a:lnTo>
                  <a:pt x="3062584" y="1311838"/>
                </a:lnTo>
                <a:lnTo>
                  <a:pt x="0" y="131183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14285" t="-15833" r="-6785" b="-15833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122124" y="8548814"/>
            <a:ext cx="1553167" cy="732443"/>
          </a:xfrm>
          <a:custGeom>
            <a:avLst/>
            <a:gdLst/>
            <a:ahLst/>
            <a:cxnLst/>
            <a:rect r="r" b="b" t="t" l="l"/>
            <a:pathLst>
              <a:path h="732443" w="1553167">
                <a:moveTo>
                  <a:pt x="0" y="0"/>
                </a:moveTo>
                <a:lnTo>
                  <a:pt x="1553168" y="0"/>
                </a:lnTo>
                <a:lnTo>
                  <a:pt x="1553168" y="732443"/>
                </a:lnTo>
                <a:lnTo>
                  <a:pt x="0" y="73244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12676" t="-26865" r="0" b="-20895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519120" y="8942366"/>
            <a:ext cx="1290660" cy="491939"/>
          </a:xfrm>
          <a:custGeom>
            <a:avLst/>
            <a:gdLst/>
            <a:ahLst/>
            <a:cxnLst/>
            <a:rect r="r" b="b" t="t" l="l"/>
            <a:pathLst>
              <a:path h="491939" w="1290660">
                <a:moveTo>
                  <a:pt x="0" y="0"/>
                </a:moveTo>
                <a:lnTo>
                  <a:pt x="1290660" y="0"/>
                </a:lnTo>
                <a:lnTo>
                  <a:pt x="1290660" y="491939"/>
                </a:lnTo>
                <a:lnTo>
                  <a:pt x="0" y="49193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-18644" t="-33333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726746" y="8723726"/>
            <a:ext cx="2417254" cy="1060403"/>
          </a:xfrm>
          <a:custGeom>
            <a:avLst/>
            <a:gdLst/>
            <a:ahLst/>
            <a:cxnLst/>
            <a:rect r="r" b="b" t="t" l="l"/>
            <a:pathLst>
              <a:path h="1060403" w="2417254">
                <a:moveTo>
                  <a:pt x="0" y="0"/>
                </a:moveTo>
                <a:lnTo>
                  <a:pt x="2417254" y="0"/>
                </a:lnTo>
                <a:lnTo>
                  <a:pt x="2417254" y="1060403"/>
                </a:lnTo>
                <a:lnTo>
                  <a:pt x="0" y="106040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8144" t="-14432" r="0" b="-721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776967" y="8723726"/>
            <a:ext cx="2482880" cy="1060403"/>
          </a:xfrm>
          <a:custGeom>
            <a:avLst/>
            <a:gdLst/>
            <a:ahLst/>
            <a:cxnLst/>
            <a:rect r="r" b="b" t="t" l="l"/>
            <a:pathLst>
              <a:path h="1060403" w="2482880">
                <a:moveTo>
                  <a:pt x="0" y="0"/>
                </a:moveTo>
                <a:lnTo>
                  <a:pt x="2482880" y="0"/>
                </a:lnTo>
                <a:lnTo>
                  <a:pt x="2482880" y="1060403"/>
                </a:lnTo>
                <a:lnTo>
                  <a:pt x="0" y="106040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-7929" t="-14432" r="-6607" b="-7216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19173" y="879053"/>
            <a:ext cx="2376489" cy="102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6"/>
              </a:lnSpc>
            </a:pPr>
            <a:r>
              <a:rPr lang="en-US" sz="7796" spc="-15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ISP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7830" y="1933294"/>
            <a:ext cx="5510702" cy="100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7"/>
              </a:lnSpc>
            </a:pPr>
            <a:r>
              <a:rPr lang="en-US" sz="7657" spc="-153" b="true">
                <a:solidFill>
                  <a:srgbClr val="29B6F6"/>
                </a:solidFill>
                <a:latin typeface="Inter Bold"/>
                <a:ea typeface="Inter Bold"/>
                <a:cs typeface="Inter Bold"/>
                <a:sym typeface="Inter Bold"/>
              </a:rPr>
              <a:t>AndinaCom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89081" y="3257732"/>
            <a:ext cx="929713" cy="109320"/>
          </a:xfrm>
          <a:custGeom>
            <a:avLst/>
            <a:gdLst/>
            <a:ahLst/>
            <a:cxnLst/>
            <a:rect r="r" b="b" t="t" l="l"/>
            <a:pathLst>
              <a:path h="109320" w="929713">
                <a:moveTo>
                  <a:pt x="0" y="0"/>
                </a:moveTo>
                <a:lnTo>
                  <a:pt x="929713" y="0"/>
                </a:lnTo>
                <a:lnTo>
                  <a:pt x="929713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-4705" t="-40000" r="-14117" b="-6000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53433" y="3855834"/>
            <a:ext cx="4308300" cy="80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-48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Modelo jerárquico de 3 capas:</a:t>
            </a:r>
            <a:r>
              <a:rPr lang="en-US" sz="2408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Núcleo, Distribución y Acceso.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0094" y="4979606"/>
            <a:ext cx="2642189" cy="40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spc="-49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IGP:</a:t>
            </a:r>
            <a:r>
              <a:rPr lang="en-US" sz="2488" spc="-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OSPF Área 0.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6887" y="5693257"/>
            <a:ext cx="4962905" cy="121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-48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Redundancia:</a:t>
            </a:r>
            <a:r>
              <a:rPr lang="en-US" sz="2408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HSRP entre switches de distribución (AND-DIST1 activo, AND-DIST2 standby).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0617" y="7244523"/>
            <a:ext cx="4589845" cy="80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-48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Servicios:</a:t>
            </a:r>
            <a:r>
              <a:rPr lang="en-US" sz="2408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servidor DHCP central nacional con ip helper-address.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8761" y="8343965"/>
            <a:ext cx="4775460" cy="807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-48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Redes departamentales:</a:t>
            </a:r>
            <a:r>
              <a:rPr lang="en-US" sz="2408" spc="-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Ventas y Facturación con subredes /26.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606558" y="1719669"/>
            <a:ext cx="1151875" cy="32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8"/>
              </a:lnSpc>
            </a:pPr>
            <a:r>
              <a:rPr lang="en-US" b="true" sz="2214" spc="-4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NÚCLEO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751969" y="4156441"/>
            <a:ext cx="1821656" cy="31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b="true" sz="2025" spc="-40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DISTRIBUCIÓN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388423" y="6409126"/>
            <a:ext cx="1239928" cy="34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5"/>
              </a:lnSpc>
            </a:pPr>
            <a:r>
              <a:rPr lang="en-US" b="true" sz="2337" spc="-46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ACCESO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47922" y="8318855"/>
            <a:ext cx="2678906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205" spc="-44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Servidor DHCP </a:t>
            </a:r>
            <a:r>
              <a:rPr lang="en-US" sz="2205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 nacional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697266" y="8906228"/>
            <a:ext cx="2491383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b="true" sz="2205" spc="-44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Ventas</a:t>
            </a:r>
          </a:p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subredes /26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760773" y="8906228"/>
            <a:ext cx="2491383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b="true" sz="2205" spc="-44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Facturación</a:t>
            </a:r>
          </a:p>
          <a:p>
            <a:pPr algn="ctr">
              <a:lnSpc>
                <a:spcPts val="2646"/>
              </a:lnSpc>
            </a:pPr>
            <a:r>
              <a:rPr lang="en-US" sz="2205" spc="-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subredes /26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67956" y="4144464"/>
            <a:ext cx="1151279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AND-DIST1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67058" y="4144464"/>
            <a:ext cx="1151271" cy="24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spc="-3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AND-DIST2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70078" y="4445681"/>
            <a:ext cx="849205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standby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71216" y="4445681"/>
            <a:ext cx="82530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 b="true">
                <a:solidFill>
                  <a:srgbClr val="29B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 activo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004467" y="4084221"/>
            <a:ext cx="583810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HSRP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306" y="1010649"/>
            <a:ext cx="6847477" cy="93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5"/>
              </a:lnSpc>
            </a:pPr>
            <a:r>
              <a:rPr lang="en-US" sz="715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ISP 3 MoonLink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2517" y="2383173"/>
            <a:ext cx="1028153" cy="109320"/>
          </a:xfrm>
          <a:custGeom>
            <a:avLst/>
            <a:gdLst/>
            <a:ahLst/>
            <a:cxnLst/>
            <a:rect r="r" b="b" t="t" l="l"/>
            <a:pathLst>
              <a:path h="109320" w="1028153">
                <a:moveTo>
                  <a:pt x="0" y="0"/>
                </a:moveTo>
                <a:lnTo>
                  <a:pt x="1028153" y="0"/>
                </a:lnTo>
                <a:lnTo>
                  <a:pt x="1028153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85" t="-30000" r="-10638" b="-800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2429" y="3545538"/>
            <a:ext cx="5371946" cy="102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322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Topología </a:t>
            </a:r>
            <a:r>
              <a:rPr lang="en-US" sz="3223" b="true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hub-and-spoke</a:t>
            </a:r>
            <a:r>
              <a:rPr lang="en-US" sz="322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con MOON-R1 como centro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8560" y="5255963"/>
            <a:ext cx="2758892" cy="4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IGP </a:t>
            </a:r>
            <a:r>
              <a:rPr lang="en-US" sz="2566" b="true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EIGRP AS 100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0935" y="6031053"/>
            <a:ext cx="4521369" cy="85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4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MoonLink-WiFi con WRT300N para conectividad inalámbrica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232" y="7289501"/>
            <a:ext cx="4491626" cy="132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Redes departamentales</a:t>
            </a:r>
          </a:p>
          <a:p>
            <a:pPr algn="l">
              <a:lnSpc>
                <a:spcPts val="3630"/>
              </a:lnSpc>
            </a:pPr>
            <a:r>
              <a:rPr lang="en-US" sz="25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Soporte, Seguridad y Red WiFi con redes </a:t>
            </a:r>
            <a:r>
              <a:rPr lang="en-US" sz="2592" b="true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/26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31541" y="907355"/>
            <a:ext cx="2646947" cy="1596070"/>
          </a:xfrm>
          <a:custGeom>
            <a:avLst/>
            <a:gdLst/>
            <a:ahLst/>
            <a:cxnLst/>
            <a:rect r="r" b="b" t="t" l="l"/>
            <a:pathLst>
              <a:path h="1596070" w="2646947">
                <a:moveTo>
                  <a:pt x="0" y="0"/>
                </a:moveTo>
                <a:lnTo>
                  <a:pt x="2646947" y="0"/>
                </a:lnTo>
                <a:lnTo>
                  <a:pt x="2646947" y="1596070"/>
                </a:lnTo>
                <a:lnTo>
                  <a:pt x="0" y="1596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24" t="-17123" r="-413" b="-479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56065" y="1287526"/>
            <a:ext cx="1392286" cy="38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b="true" sz="226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SOPORTE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847062" y="3618488"/>
            <a:ext cx="2515694" cy="1574206"/>
          </a:xfrm>
          <a:custGeom>
            <a:avLst/>
            <a:gdLst/>
            <a:ahLst/>
            <a:cxnLst/>
            <a:rect r="r" b="b" t="t" l="l"/>
            <a:pathLst>
              <a:path h="1574206" w="2515694">
                <a:moveTo>
                  <a:pt x="0" y="0"/>
                </a:moveTo>
                <a:lnTo>
                  <a:pt x="2515694" y="0"/>
                </a:lnTo>
                <a:lnTo>
                  <a:pt x="2515694" y="1574206"/>
                </a:lnTo>
                <a:lnTo>
                  <a:pt x="0" y="1574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608" t="-12500" r="0" b="-1111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24109" y="3998477"/>
            <a:ext cx="1691657" cy="38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b="true" sz="226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SEGURIDAD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72312" y="4463766"/>
            <a:ext cx="2035969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true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Red /26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656651" y="3662216"/>
            <a:ext cx="2220373" cy="1486750"/>
          </a:xfrm>
          <a:custGeom>
            <a:avLst/>
            <a:gdLst/>
            <a:ahLst/>
            <a:cxnLst/>
            <a:rect r="r" b="b" t="t" l="l"/>
            <a:pathLst>
              <a:path h="1486750" w="2220373">
                <a:moveTo>
                  <a:pt x="0" y="0"/>
                </a:moveTo>
                <a:lnTo>
                  <a:pt x="2220373" y="0"/>
                </a:lnTo>
                <a:lnTo>
                  <a:pt x="2220373" y="1486750"/>
                </a:lnTo>
                <a:lnTo>
                  <a:pt x="0" y="148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48" t="-1470" r="-492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117663" y="3998477"/>
            <a:ext cx="1281470" cy="38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b="true" sz="226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RED WIFI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401847" y="6679444"/>
            <a:ext cx="3270402" cy="3093752"/>
          </a:xfrm>
          <a:custGeom>
            <a:avLst/>
            <a:gdLst/>
            <a:ahLst/>
            <a:cxnLst/>
            <a:rect r="r" b="b" t="t" l="l"/>
            <a:pathLst>
              <a:path h="3093752" w="3270402">
                <a:moveTo>
                  <a:pt x="0" y="0"/>
                </a:moveTo>
                <a:lnTo>
                  <a:pt x="3270402" y="0"/>
                </a:lnTo>
                <a:lnTo>
                  <a:pt x="3270402" y="3093753"/>
                </a:lnTo>
                <a:lnTo>
                  <a:pt x="0" y="30937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351" t="-1413" r="-1337" b="-282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836469" y="8123183"/>
            <a:ext cx="2302738" cy="40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1"/>
              </a:lnSpc>
            </a:pPr>
            <a:r>
              <a:rPr lang="en-US" sz="235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MoonLink-WiFi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49570" y="8590436"/>
            <a:ext cx="2330648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b="true" sz="2250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WRT300N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85892" y="9030730"/>
            <a:ext cx="2403891" cy="34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4"/>
              </a:lnSpc>
            </a:pPr>
            <a:r>
              <a:rPr lang="en-US" sz="20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Acceso inalámbrico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419062" y="7105792"/>
            <a:ext cx="1181282" cy="929219"/>
          </a:xfrm>
          <a:custGeom>
            <a:avLst/>
            <a:gdLst/>
            <a:ahLst/>
            <a:cxnLst/>
            <a:rect r="r" b="b" t="t" l="l"/>
            <a:pathLst>
              <a:path h="929219" w="1181282">
                <a:moveTo>
                  <a:pt x="0" y="0"/>
                </a:moveTo>
                <a:lnTo>
                  <a:pt x="1181282" y="0"/>
                </a:lnTo>
                <a:lnTo>
                  <a:pt x="1181282" y="929219"/>
                </a:lnTo>
                <a:lnTo>
                  <a:pt x="0" y="929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851" t="-27058" r="-21296" b="-11764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54938" y="2186397"/>
            <a:ext cx="5720469" cy="4886598"/>
          </a:xfrm>
          <a:custGeom>
            <a:avLst/>
            <a:gdLst/>
            <a:ahLst/>
            <a:cxnLst/>
            <a:rect r="r" b="b" t="t" l="l"/>
            <a:pathLst>
              <a:path h="4886598" w="5720469">
                <a:moveTo>
                  <a:pt x="0" y="0"/>
                </a:moveTo>
                <a:lnTo>
                  <a:pt x="5720469" y="0"/>
                </a:lnTo>
                <a:lnTo>
                  <a:pt x="5720469" y="4886599"/>
                </a:lnTo>
                <a:lnTo>
                  <a:pt x="0" y="48865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1" t="-894" r="-2676" b="-447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131024" y="4094829"/>
            <a:ext cx="1721129" cy="46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2"/>
              </a:lnSpc>
            </a:pPr>
            <a:r>
              <a:rPr lang="en-US" b="true" sz="28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MOON-R1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13420" y="4590357"/>
            <a:ext cx="1556336" cy="27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70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HUB CENTRAL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60773" y="4463766"/>
            <a:ext cx="2035969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true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Red /26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49570" y="1737754"/>
            <a:ext cx="2250281" cy="38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b="true">
                <a:solidFill>
                  <a:srgbClr val="1DB8EE"/>
                </a:solidFill>
                <a:latin typeface="Inter Bold"/>
                <a:ea typeface="Inter Bold"/>
                <a:cs typeface="Inter Bold"/>
                <a:sym typeface="Inter Bold"/>
              </a:rPr>
              <a:t>Red /26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192" y="573674"/>
            <a:ext cx="8174529" cy="263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6"/>
              </a:lnSpc>
            </a:pPr>
            <a:r>
              <a:rPr lang="en-US" sz="6056" spc="-121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Políticas de Seguridad e Interconexión con ACLs Extendidas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498236"/>
            <a:ext cx="1071904" cy="109320"/>
          </a:xfrm>
          <a:custGeom>
            <a:avLst/>
            <a:gdLst/>
            <a:ahLst/>
            <a:cxnLst/>
            <a:rect r="r" b="b" t="t" l="l"/>
            <a:pathLst>
              <a:path h="109320" w="1071904">
                <a:moveTo>
                  <a:pt x="0" y="0"/>
                </a:moveTo>
                <a:lnTo>
                  <a:pt x="1071904" y="0"/>
                </a:lnTo>
                <a:lnTo>
                  <a:pt x="1071904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08" t="-69999" r="-3061" b="-400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660" y="3993856"/>
            <a:ext cx="7027789" cy="3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Seguridad y </a:t>
            </a:r>
            <a:r>
              <a:rPr lang="en-US" sz="2558" spc="-24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control de acceso</a:t>
            </a:r>
            <a:r>
              <a:rPr lang="en-US" sz="2558" spc="-24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en toda la red.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6112" y="4918103"/>
            <a:ext cx="1682502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spc="-111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Aplicación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467282" y="4646095"/>
            <a:ext cx="54689" cy="1016675"/>
          </a:xfrm>
          <a:custGeom>
            <a:avLst/>
            <a:gdLst/>
            <a:ahLst/>
            <a:cxnLst/>
            <a:rect r="r" b="b" t="t" l="l"/>
            <a:pathLst>
              <a:path h="1016675" w="54689">
                <a:moveTo>
                  <a:pt x="0" y="0"/>
                </a:moveTo>
                <a:lnTo>
                  <a:pt x="54689" y="0"/>
                </a:lnTo>
                <a:lnTo>
                  <a:pt x="54689" y="1016674"/>
                </a:lnTo>
                <a:lnTo>
                  <a:pt x="0" y="1016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0000" t="-15053" r="-340000" b="-1290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5837681"/>
            <a:ext cx="7109569" cy="43728"/>
          </a:xfrm>
          <a:custGeom>
            <a:avLst/>
            <a:gdLst/>
            <a:ahLst/>
            <a:cxnLst/>
            <a:rect r="r" b="b" t="t" l="l"/>
            <a:pathLst>
              <a:path h="43728" w="7109569">
                <a:moveTo>
                  <a:pt x="0" y="0"/>
                </a:moveTo>
                <a:lnTo>
                  <a:pt x="7109570" y="0"/>
                </a:lnTo>
                <a:lnTo>
                  <a:pt x="7109570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76" t="-125000" r="-1230" b="-2749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7110" y="6042130"/>
            <a:ext cx="1582789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102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Seguridad </a:t>
            </a:r>
          </a:p>
          <a:p>
            <a:pPr algn="l">
              <a:lnSpc>
                <a:spcPts val="3070"/>
              </a:lnSpc>
            </a:pPr>
            <a:r>
              <a:rPr lang="en-US" sz="2558" spc="-102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aislada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467282" y="6089117"/>
            <a:ext cx="54689" cy="699647"/>
          </a:xfrm>
          <a:custGeom>
            <a:avLst/>
            <a:gdLst/>
            <a:ahLst/>
            <a:cxnLst/>
            <a:rect r="r" b="b" t="t" l="l"/>
            <a:pathLst>
              <a:path h="699647" w="54689">
                <a:moveTo>
                  <a:pt x="0" y="0"/>
                </a:moveTo>
                <a:lnTo>
                  <a:pt x="54689" y="0"/>
                </a:lnTo>
                <a:lnTo>
                  <a:pt x="54689" y="699647"/>
                </a:lnTo>
                <a:lnTo>
                  <a:pt x="0" y="699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0000" t="-14062" r="-340000" b="-1093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4392" y="7007404"/>
            <a:ext cx="7120507" cy="32796"/>
          </a:xfrm>
          <a:custGeom>
            <a:avLst/>
            <a:gdLst/>
            <a:ahLst/>
            <a:cxnLst/>
            <a:rect r="r" b="b" t="t" l="l"/>
            <a:pathLst>
              <a:path h="32796" w="7120507">
                <a:moveTo>
                  <a:pt x="0" y="0"/>
                </a:moveTo>
                <a:lnTo>
                  <a:pt x="7120508" y="0"/>
                </a:lnTo>
                <a:lnTo>
                  <a:pt x="7120508" y="32796"/>
                </a:lnTo>
                <a:lnTo>
                  <a:pt x="0" y="32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18" t="-466666" r="-1228" b="-9999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20690" y="7216876"/>
            <a:ext cx="2224779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102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Soporte y Administración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67282" y="7258840"/>
            <a:ext cx="65627" cy="710579"/>
          </a:xfrm>
          <a:custGeom>
            <a:avLst/>
            <a:gdLst/>
            <a:ahLst/>
            <a:cxnLst/>
            <a:rect r="r" b="b" t="t" l="l"/>
            <a:pathLst>
              <a:path h="710579" w="65627">
                <a:moveTo>
                  <a:pt x="0" y="0"/>
                </a:moveTo>
                <a:lnTo>
                  <a:pt x="65627" y="0"/>
                </a:lnTo>
                <a:lnTo>
                  <a:pt x="65627" y="710579"/>
                </a:lnTo>
                <a:lnTo>
                  <a:pt x="0" y="7105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6666" t="-27692" r="-266666" b="-2461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4392" y="8155262"/>
            <a:ext cx="7120507" cy="43728"/>
          </a:xfrm>
          <a:custGeom>
            <a:avLst/>
            <a:gdLst/>
            <a:ahLst/>
            <a:cxnLst/>
            <a:rect r="r" b="b" t="t" l="l"/>
            <a:pathLst>
              <a:path h="43728" w="7120507">
                <a:moveTo>
                  <a:pt x="0" y="0"/>
                </a:moveTo>
                <a:lnTo>
                  <a:pt x="7120508" y="0"/>
                </a:lnTo>
                <a:lnTo>
                  <a:pt x="7120508" y="43728"/>
                </a:lnTo>
                <a:lnTo>
                  <a:pt x="0" y="437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918" t="-50000" r="-1228" b="-37500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6772" y="8351974"/>
            <a:ext cx="2616551" cy="108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spc="-97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Ventas, </a:t>
            </a:r>
          </a:p>
          <a:p>
            <a:pPr algn="l">
              <a:lnSpc>
                <a:spcPts val="2924"/>
              </a:lnSpc>
            </a:pPr>
            <a:r>
              <a:rPr lang="en-US" sz="2436" spc="-97" b="true">
                <a:solidFill>
                  <a:srgbClr val="3DB6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Atención al Cliente y Facturación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478220" y="8384834"/>
            <a:ext cx="43751" cy="1016675"/>
          </a:xfrm>
          <a:custGeom>
            <a:avLst/>
            <a:gdLst/>
            <a:ahLst/>
            <a:cxnLst/>
            <a:rect r="r" b="b" t="t" l="l"/>
            <a:pathLst>
              <a:path h="1016675" w="43751">
                <a:moveTo>
                  <a:pt x="0" y="0"/>
                </a:moveTo>
                <a:lnTo>
                  <a:pt x="43751" y="0"/>
                </a:lnTo>
                <a:lnTo>
                  <a:pt x="43751" y="1016675"/>
                </a:lnTo>
                <a:lnTo>
                  <a:pt x="0" y="10166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00000" t="-3225" r="-425000" b="-322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696891" y="4596190"/>
            <a:ext cx="4152305" cy="107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ACLs extendidas en interfaces LAN en ingreso (in) para descarte temprano.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96891" y="6084982"/>
            <a:ext cx="4152305" cy="71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Solo inicia comunicación, </a:t>
            </a:r>
          </a:p>
          <a:p>
            <a:pPr algn="l">
              <a:lnSpc>
                <a:spcPts val="2924"/>
              </a:lnSpc>
            </a:pPr>
            <a:r>
              <a:rPr lang="en-US" sz="2250" spc="-67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bloquea accesos externos.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6891" y="8479656"/>
            <a:ext cx="4152305" cy="71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Restricciones cruzadas </a:t>
            </a:r>
          </a:p>
          <a:p>
            <a:pPr algn="l">
              <a:lnSpc>
                <a:spcPts val="2924"/>
              </a:lnSpc>
            </a:pPr>
            <a:r>
              <a:rPr lang="en-US" sz="2250" spc="-67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según matriz corporativa.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63446" y="3379148"/>
            <a:ext cx="1804610" cy="49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b="true" sz="1692" spc="-16">
                <a:solidFill>
                  <a:srgbClr val="C3E4F6"/>
                </a:solidFill>
                <a:latin typeface="Inter Bold"/>
                <a:ea typeface="Inter Bold"/>
                <a:cs typeface="Inter Bold"/>
                <a:sym typeface="Inter Bold"/>
              </a:rPr>
              <a:t>SOLO INICIA COMUNICACIÓN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64109" y="4927627"/>
            <a:ext cx="1738303" cy="8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b="true" sz="1768" spc="-17">
                <a:solidFill>
                  <a:srgbClr val="C3E4F6"/>
                </a:solidFill>
                <a:latin typeface="Inter Bold"/>
                <a:ea typeface="Inter Bold"/>
                <a:cs typeface="Inter Bold"/>
                <a:sym typeface="Inter Bold"/>
              </a:rPr>
              <a:t>ACCESO UNIVERSAL BIDIRECCIONAL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63490" y="6885536"/>
            <a:ext cx="1800220" cy="53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b="true" sz="1768" spc="-17">
                <a:solidFill>
                  <a:srgbClr val="C3E4F6"/>
                </a:solidFill>
                <a:latin typeface="Inter Bold"/>
                <a:ea typeface="Inter Bold"/>
                <a:cs typeface="Inter Bold"/>
                <a:sym typeface="Inter Bold"/>
              </a:rPr>
              <a:t>RESTRICCIONES CRUZADAS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647139" y="3050024"/>
            <a:ext cx="4057923" cy="338892"/>
          </a:xfrm>
          <a:custGeom>
            <a:avLst/>
            <a:gdLst/>
            <a:ahLst/>
            <a:cxnLst/>
            <a:rect r="r" b="b" t="t" l="l"/>
            <a:pathLst>
              <a:path h="338892" w="4057923">
                <a:moveTo>
                  <a:pt x="0" y="0"/>
                </a:moveTo>
                <a:lnTo>
                  <a:pt x="4057923" y="0"/>
                </a:lnTo>
                <a:lnTo>
                  <a:pt x="4057923" y="338892"/>
                </a:lnTo>
                <a:lnTo>
                  <a:pt x="0" y="338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7789" t="-16129" r="-269" b="-12903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051837" y="4066699"/>
            <a:ext cx="3664163" cy="317028"/>
          </a:xfrm>
          <a:custGeom>
            <a:avLst/>
            <a:gdLst/>
            <a:ahLst/>
            <a:cxnLst/>
            <a:rect r="r" b="b" t="t" l="l"/>
            <a:pathLst>
              <a:path h="317028" w="3664163">
                <a:moveTo>
                  <a:pt x="0" y="0"/>
                </a:moveTo>
                <a:lnTo>
                  <a:pt x="3664163" y="0"/>
                </a:lnTo>
                <a:lnTo>
                  <a:pt x="3664163" y="317028"/>
                </a:lnTo>
                <a:lnTo>
                  <a:pt x="0" y="3170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0746" t="0" r="0" b="-3793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03426" y="5214558"/>
            <a:ext cx="317196" cy="284232"/>
          </a:xfrm>
          <a:custGeom>
            <a:avLst/>
            <a:gdLst/>
            <a:ahLst/>
            <a:cxnLst/>
            <a:rect r="r" b="b" t="t" l="l"/>
            <a:pathLst>
              <a:path h="284232" w="317196">
                <a:moveTo>
                  <a:pt x="0" y="0"/>
                </a:moveTo>
                <a:lnTo>
                  <a:pt x="317196" y="0"/>
                </a:lnTo>
                <a:lnTo>
                  <a:pt x="317196" y="284232"/>
                </a:lnTo>
                <a:lnTo>
                  <a:pt x="0" y="2842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7931" t="-26923" r="-3448" b="-26923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631541" y="4777278"/>
            <a:ext cx="3915732" cy="327960"/>
          </a:xfrm>
          <a:custGeom>
            <a:avLst/>
            <a:gdLst/>
            <a:ahLst/>
            <a:cxnLst/>
            <a:rect r="r" b="b" t="t" l="l"/>
            <a:pathLst>
              <a:path h="327960" w="3915732">
                <a:moveTo>
                  <a:pt x="0" y="0"/>
                </a:moveTo>
                <a:lnTo>
                  <a:pt x="3915732" y="0"/>
                </a:lnTo>
                <a:lnTo>
                  <a:pt x="3915732" y="327960"/>
                </a:lnTo>
                <a:lnTo>
                  <a:pt x="0" y="3279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7094" t="-20000" r="-6703" b="-13333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620603" y="5619041"/>
            <a:ext cx="3675100" cy="360756"/>
          </a:xfrm>
          <a:custGeom>
            <a:avLst/>
            <a:gdLst/>
            <a:ahLst/>
            <a:cxnLst/>
            <a:rect r="r" b="b" t="t" l="l"/>
            <a:pathLst>
              <a:path h="360756" w="3675100">
                <a:moveTo>
                  <a:pt x="0" y="0"/>
                </a:moveTo>
                <a:lnTo>
                  <a:pt x="3675100" y="0"/>
                </a:lnTo>
                <a:lnTo>
                  <a:pt x="3675100" y="360756"/>
                </a:lnTo>
                <a:lnTo>
                  <a:pt x="0" y="36075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8571" t="-15151" r="-8035" b="-606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44019" y="6362417"/>
            <a:ext cx="3871981" cy="349824"/>
          </a:xfrm>
          <a:custGeom>
            <a:avLst/>
            <a:gdLst/>
            <a:ahLst/>
            <a:cxnLst/>
            <a:rect r="r" b="b" t="t" l="l"/>
            <a:pathLst>
              <a:path h="349824" w="3871981">
                <a:moveTo>
                  <a:pt x="0" y="0"/>
                </a:moveTo>
                <a:lnTo>
                  <a:pt x="3871981" y="0"/>
                </a:lnTo>
                <a:lnTo>
                  <a:pt x="3871981" y="349823"/>
                </a:lnTo>
                <a:lnTo>
                  <a:pt x="0" y="34982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3728" t="-43750" r="0" b="-43749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56555" y="6898084"/>
            <a:ext cx="2504756" cy="306096"/>
          </a:xfrm>
          <a:custGeom>
            <a:avLst/>
            <a:gdLst/>
            <a:ahLst/>
            <a:cxnLst/>
            <a:rect r="r" b="b" t="t" l="l"/>
            <a:pathLst>
              <a:path h="306096" w="2504756">
                <a:moveTo>
                  <a:pt x="0" y="0"/>
                </a:moveTo>
                <a:lnTo>
                  <a:pt x="2504756" y="0"/>
                </a:lnTo>
                <a:lnTo>
                  <a:pt x="2504756" y="306096"/>
                </a:lnTo>
                <a:lnTo>
                  <a:pt x="0" y="3060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183" t="-14285" r="-2183" b="-2857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379971" y="7335363"/>
            <a:ext cx="3325091" cy="382620"/>
          </a:xfrm>
          <a:custGeom>
            <a:avLst/>
            <a:gdLst/>
            <a:ahLst/>
            <a:cxnLst/>
            <a:rect r="r" b="b" t="t" l="l"/>
            <a:pathLst>
              <a:path h="382620" w="3325091">
                <a:moveTo>
                  <a:pt x="0" y="0"/>
                </a:moveTo>
                <a:lnTo>
                  <a:pt x="3325091" y="0"/>
                </a:lnTo>
                <a:lnTo>
                  <a:pt x="3325091" y="382620"/>
                </a:lnTo>
                <a:lnTo>
                  <a:pt x="0" y="38262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4342" t="-14285" r="-328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103483" y="2033350"/>
            <a:ext cx="831273" cy="6132845"/>
          </a:xfrm>
          <a:custGeom>
            <a:avLst/>
            <a:gdLst/>
            <a:ahLst/>
            <a:cxnLst/>
            <a:rect r="r" b="b" t="t" l="l"/>
            <a:pathLst>
              <a:path h="6132845" w="831273">
                <a:moveTo>
                  <a:pt x="0" y="0"/>
                </a:moveTo>
                <a:lnTo>
                  <a:pt x="831273" y="0"/>
                </a:lnTo>
                <a:lnTo>
                  <a:pt x="831273" y="6132844"/>
                </a:lnTo>
                <a:lnTo>
                  <a:pt x="0" y="613284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5263" t="-1782" r="0" b="-3208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696891" y="7011625"/>
            <a:ext cx="4152305" cy="107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 spc="-67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Acceso amplio a todos los departamentos, excepto Seguridad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7047" y="671864"/>
            <a:ext cx="9946866" cy="1763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7"/>
              </a:lnSpc>
            </a:pPr>
            <a:r>
              <a:rPr lang="en-US" sz="6345" spc="-189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Despliegue de Dispositivos e Inversión Estimada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678337"/>
            <a:ext cx="1006278" cy="109320"/>
          </a:xfrm>
          <a:custGeom>
            <a:avLst/>
            <a:gdLst/>
            <a:ahLst/>
            <a:cxnLst/>
            <a:rect r="r" b="b" t="t" l="l"/>
            <a:pathLst>
              <a:path h="109320" w="1006278">
                <a:moveTo>
                  <a:pt x="0" y="0"/>
                </a:moveTo>
                <a:lnTo>
                  <a:pt x="1006278" y="0"/>
                </a:lnTo>
                <a:lnTo>
                  <a:pt x="1006278" y="109320"/>
                </a:lnTo>
                <a:lnTo>
                  <a:pt x="0" y="109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739" t="-100000" r="-978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077" y="3159344"/>
            <a:ext cx="8553359" cy="3159344"/>
          </a:xfrm>
          <a:custGeom>
            <a:avLst/>
            <a:gdLst/>
            <a:ahLst/>
            <a:cxnLst/>
            <a:rect r="r" b="b" t="t" l="l"/>
            <a:pathLst>
              <a:path h="3159344" w="8553359">
                <a:moveTo>
                  <a:pt x="0" y="0"/>
                </a:moveTo>
                <a:lnTo>
                  <a:pt x="8553358" y="0"/>
                </a:lnTo>
                <a:lnTo>
                  <a:pt x="8553358" y="3159345"/>
                </a:lnTo>
                <a:lnTo>
                  <a:pt x="0" y="3159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3" t="-5190" r="-895" b="-380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5358" y="3500729"/>
            <a:ext cx="2868121" cy="32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98" spc="-42" b="true">
                <a:solidFill>
                  <a:srgbClr val="22B5F2"/>
                </a:solidFill>
                <a:latin typeface="Inter Bold"/>
                <a:ea typeface="Inter Bold"/>
                <a:cs typeface="Inter Bold"/>
                <a:sym typeface="Inter Bold"/>
              </a:rPr>
              <a:t>Equipamiento principal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8404" y="3917463"/>
            <a:ext cx="7563484" cy="201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1791" spc="-3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3 switches multicapa Cisco Catalyst 3650-24PS para núcleo BGP</a:t>
            </a:r>
          </a:p>
          <a:p>
            <a:pPr algn="l">
              <a:lnSpc>
                <a:spcPts val="3296"/>
              </a:lnSpc>
            </a:pPr>
            <a:r>
              <a:rPr lang="en-US" sz="1791" spc="-3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2 switches multicapa Cisco Catalyst 3650-24PS para distribución HSRP</a:t>
            </a:r>
          </a:p>
          <a:p>
            <a:pPr algn="l">
              <a:lnSpc>
                <a:spcPts val="3296"/>
              </a:lnSpc>
            </a:pPr>
            <a:r>
              <a:rPr lang="en-US" sz="1791" spc="-3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13 routers Cisco 2911 (4 FibraNet, 3 AndinaCom, 5 MoonLink, 1 expansión)</a:t>
            </a:r>
          </a:p>
          <a:p>
            <a:pPr algn="l">
              <a:lnSpc>
                <a:spcPts val="3296"/>
              </a:lnSpc>
            </a:pPr>
            <a:r>
              <a:rPr lang="en-US" sz="1791" spc="-3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13 switches Cisco Catalyst 2960-24TT para acceso y servicios</a:t>
            </a:r>
          </a:p>
          <a:p>
            <a:pPr algn="l">
              <a:lnSpc>
                <a:spcPts val="3296"/>
              </a:lnSpc>
            </a:pPr>
            <a:r>
              <a:rPr lang="en-US" sz="1791" spc="-3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1 WRT300N + servidores y hosts empresariales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46890" y="6449872"/>
            <a:ext cx="8520545" cy="3498236"/>
          </a:xfrm>
          <a:custGeom>
            <a:avLst/>
            <a:gdLst/>
            <a:ahLst/>
            <a:cxnLst/>
            <a:rect r="r" b="b" t="t" l="l"/>
            <a:pathLst>
              <a:path h="3498236" w="8520545">
                <a:moveTo>
                  <a:pt x="0" y="0"/>
                </a:moveTo>
                <a:lnTo>
                  <a:pt x="8520545" y="0"/>
                </a:lnTo>
                <a:lnTo>
                  <a:pt x="8520545" y="3498236"/>
                </a:lnTo>
                <a:lnTo>
                  <a:pt x="0" y="3498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2" t="-625" r="-898" b="-375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0236" y="6738809"/>
            <a:ext cx="2380292" cy="32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98" spc="-42" b="true">
                <a:solidFill>
                  <a:srgbClr val="22B5F2"/>
                </a:solidFill>
                <a:latin typeface="Inter Bold"/>
                <a:ea typeface="Inter Bold"/>
                <a:cs typeface="Inter Bold"/>
                <a:sym typeface="Inter Bold"/>
              </a:rPr>
              <a:t>Inversión estimada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8986094"/>
            <a:ext cx="7897091" cy="43728"/>
          </a:xfrm>
          <a:custGeom>
            <a:avLst/>
            <a:gdLst/>
            <a:ahLst/>
            <a:cxnLst/>
            <a:rect r="r" b="b" t="t" l="l"/>
            <a:pathLst>
              <a:path h="43728" w="7897091">
                <a:moveTo>
                  <a:pt x="0" y="0"/>
                </a:moveTo>
                <a:lnTo>
                  <a:pt x="7897091" y="0"/>
                </a:lnTo>
                <a:lnTo>
                  <a:pt x="7897091" y="43727"/>
                </a:lnTo>
                <a:lnTo>
                  <a:pt x="0" y="43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75000" r="-2216" b="-4250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2058" y="9253970"/>
            <a:ext cx="2198064" cy="32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0"/>
              </a:lnSpc>
            </a:pPr>
            <a:r>
              <a:rPr lang="en-US" sz="2098" spc="-4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Total aproximado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68574" y="9183062"/>
            <a:ext cx="2860583" cy="497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1"/>
              </a:lnSpc>
            </a:pPr>
            <a:r>
              <a:rPr lang="en-US" b="true" sz="3493" spc="-104">
                <a:solidFill>
                  <a:srgbClr val="22B5F2"/>
                </a:solidFill>
                <a:latin typeface="Inter Bold"/>
                <a:ea typeface="Inter Bold"/>
                <a:cs typeface="Inter Bold"/>
                <a:sym typeface="Inter Bold"/>
              </a:rPr>
              <a:t>$115,000 USD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570574" y="1497682"/>
            <a:ext cx="8717426" cy="7936623"/>
          </a:xfrm>
          <a:custGeom>
            <a:avLst/>
            <a:gdLst/>
            <a:ahLst/>
            <a:cxnLst/>
            <a:rect r="r" b="b" t="t" l="l"/>
            <a:pathLst>
              <a:path h="7936623" w="8717426">
                <a:moveTo>
                  <a:pt x="0" y="0"/>
                </a:moveTo>
                <a:lnTo>
                  <a:pt x="8717426" y="0"/>
                </a:lnTo>
                <a:lnTo>
                  <a:pt x="8717426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23703" y="6100049"/>
            <a:ext cx="2996957" cy="2722065"/>
          </a:xfrm>
          <a:custGeom>
            <a:avLst/>
            <a:gdLst/>
            <a:ahLst/>
            <a:cxnLst/>
            <a:rect r="r" b="b" t="t" l="l"/>
            <a:pathLst>
              <a:path h="2722065" w="2996957">
                <a:moveTo>
                  <a:pt x="0" y="0"/>
                </a:moveTo>
                <a:lnTo>
                  <a:pt x="2996957" y="0"/>
                </a:lnTo>
                <a:lnTo>
                  <a:pt x="2996957" y="2722065"/>
                </a:lnTo>
                <a:lnTo>
                  <a:pt x="0" y="27220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109" t="-4016" r="-4379" b="-682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4255" y="8441671"/>
            <a:ext cx="5978358" cy="35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718" spc="-3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Fibra óptica, SFP GLC-LH-SMD, servidores y equipos finales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584" y="7996866"/>
            <a:ext cx="3745540" cy="36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1755" spc="-3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Catalyst 2960 (13 unidades x $1,500)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6954" y="7568465"/>
            <a:ext cx="3708526" cy="3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1809" spc="-36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Routers 2911 (13 unidades x $3,500)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7870" y="7146438"/>
            <a:ext cx="3616859" cy="35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1718" spc="-3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Catalyst 3650 (5 unidades x $7,500)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08923" y="7579633"/>
            <a:ext cx="1304676" cy="35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7"/>
              </a:lnSpc>
            </a:pPr>
            <a:r>
              <a:rPr lang="en-US" sz="1645" spc="-32">
                <a:solidFill>
                  <a:srgbClr val="22B5F2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$45,500 USD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08923" y="8004906"/>
            <a:ext cx="1304676" cy="35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61"/>
              </a:lnSpc>
            </a:pPr>
            <a:r>
              <a:rPr lang="en-US" sz="1718" spc="-34">
                <a:solidFill>
                  <a:srgbClr val="22B5F2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$19,500 USD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08923" y="7142869"/>
            <a:ext cx="1304676" cy="35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27"/>
              </a:lnSpc>
            </a:pPr>
            <a:r>
              <a:rPr lang="en-US" sz="1645" spc="-32">
                <a:solidFill>
                  <a:srgbClr val="22B5F2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$37,500 USD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08923" y="8441671"/>
            <a:ext cx="1304676" cy="35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61"/>
              </a:lnSpc>
            </a:pPr>
            <a:r>
              <a:rPr lang="en-US" sz="1718" spc="-34">
                <a:solidFill>
                  <a:srgbClr val="22B5F2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$12,500 USD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9736" y="817383"/>
            <a:ext cx="6283427" cy="306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5"/>
              </a:lnSpc>
            </a:pPr>
            <a:r>
              <a:rPr lang="en-US" sz="7343" spc="-147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Conclusión y Beneficios del Proyecto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90641" y="4241611"/>
            <a:ext cx="1126593" cy="131184"/>
          </a:xfrm>
          <a:custGeom>
            <a:avLst/>
            <a:gdLst/>
            <a:ahLst/>
            <a:cxnLst/>
            <a:rect r="r" b="b" t="t" l="l"/>
            <a:pathLst>
              <a:path h="131184" w="1126593">
                <a:moveTo>
                  <a:pt x="0" y="0"/>
                </a:moveTo>
                <a:lnTo>
                  <a:pt x="1126593" y="0"/>
                </a:lnTo>
                <a:lnTo>
                  <a:pt x="1126593" y="131184"/>
                </a:lnTo>
                <a:lnTo>
                  <a:pt x="0" y="131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563" t="-133333" r="-2912" b="-1000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6755" y="4844059"/>
            <a:ext cx="7260425" cy="8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spc="-49" b="true">
                <a:solidFill>
                  <a:srgbClr val="33B1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Alta disponibilidad</a:t>
            </a:r>
            <a:r>
              <a:rPr lang="en-US" sz="2488" spc="-49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con conmutación transparente en pocos segundoss (HSRP + LACP).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6001" y="6033865"/>
            <a:ext cx="7335865" cy="8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spc="-49" b="true">
                <a:solidFill>
                  <a:srgbClr val="33B1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Escalabilidad</a:t>
            </a:r>
            <a:r>
              <a:rPr lang="en-US" sz="2488" spc="-49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preparada para el crecimiento futuro mediante VLSM.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435" y="7223671"/>
            <a:ext cx="6492469" cy="8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spc="-49" b="true">
                <a:solidFill>
                  <a:srgbClr val="33B1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Cumplimiento operativo</a:t>
            </a:r>
            <a:r>
              <a:rPr lang="en-US" sz="2488" spc="-49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con automatización DHCP/DNS y seguridad mediante ACLs.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2067" y="8443599"/>
            <a:ext cx="6729281" cy="831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spc="-49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Una red nacional robusta, segura y eficiente</a:t>
            </a:r>
          </a:p>
          <a:p>
            <a:pPr algn="l">
              <a:lnSpc>
                <a:spcPts val="3483"/>
              </a:lnSpc>
            </a:pPr>
            <a:r>
              <a:rPr lang="en-US" sz="2488" spc="-49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que impulsa a los </a:t>
            </a:r>
            <a:r>
              <a:rPr lang="en-US" sz="2488" spc="-49" b="true">
                <a:solidFill>
                  <a:srgbClr val="33B1E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tres operadores integrados.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DAHY5qL-Z8g</dc:identifier>
  <dcterms:modified xsi:type="dcterms:W3CDTF">2011-08-01T06:04:30Z</dcterms:modified>
  <cp:revision>1</cp:revision>
  <dc:title>Proyecto Conectividad XXI</dc:title>
</cp:coreProperties>
</file>